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60F1D"/>
        </a:solidFill>
      </p:bgPr>
    </p:bg>
    <p:spTree>
      <p:nvGrpSpPr>
        <p:cNvPr id="1" name=""/>
        <p:cNvGrpSpPr/>
        <p:nvPr/>
      </p:nvGrpSpPr>
      <p:grpSpPr>
        <a:xfrm>
          <a:off x="0" y="0"/>
          <a:ext cx="0" cy="0"/>
          <a:chOff x="0" y="0"/>
          <a:chExt cx="0" cy="0"/>
        </a:xfrm>
      </p:grpSpPr>
      <p:sp>
        <p:nvSpPr>
          <p:cNvPr id="2" name="Shape 0"/>
          <p:cNvSpPr/>
          <p:nvPr/>
        </p:nvSpPr>
        <p:spPr>
          <a:xfrm>
            <a:off x="0" y="0"/>
            <a:ext cx="12192000" cy="54864"/>
          </a:xfrm>
          <a:prstGeom prst="rect">
            <a:avLst/>
          </a:prstGeom>
          <a:solidFill>
            <a:srgbClr val="3B82F6"/>
          </a:solidFill>
          <a:ln/>
        </p:spPr>
      </p:sp>
      <p:sp>
        <p:nvSpPr>
          <p:cNvPr id="3" name="Text 1"/>
          <p:cNvSpPr/>
          <p:nvPr/>
        </p:nvSpPr>
        <p:spPr>
          <a:xfrm>
            <a:off x="731520" y="1645920"/>
            <a:ext cx="7680960" cy="1097280"/>
          </a:xfrm>
          <a:prstGeom prst="rect">
            <a:avLst/>
          </a:prstGeom>
          <a:noFill/>
          <a:ln/>
        </p:spPr>
        <p:txBody>
          <a:bodyPr wrap="square" rtlCol="0" anchor="ctr"/>
          <a:lstStyle/>
          <a:p>
            <a:pPr algn="l" indent="0" marL="0">
              <a:buNone/>
            </a:pPr>
            <a:r>
              <a:rPr lang="en-US" sz="3200" b="1" dirty="0">
                <a:solidFill>
                  <a:srgbClr val="FFFFFF"/>
                </a:solidFill>
                <a:latin typeface="Helvetica Neue" pitchFamily="34" charset="0"/>
                <a:ea typeface="Helvetica Neue" pitchFamily="34" charset="-122"/>
                <a:cs typeface="Helvetica Neue" pitchFamily="34" charset="-120"/>
              </a:rPr>
              <a:t>Digital Assets Strategy 2026–2030 — Bridge to 2030 Pillar</a:t>
            </a:r>
            <a:endParaRPr lang="en-US" sz="3200" dirty="0"/>
          </a:p>
        </p:txBody>
      </p:sp>
      <p:sp>
        <p:nvSpPr>
          <p:cNvPr id="4" name="Text 2"/>
          <p:cNvSpPr/>
          <p:nvPr/>
        </p:nvSpPr>
        <p:spPr>
          <a:xfrm>
            <a:off x="731520" y="2743200"/>
            <a:ext cx="7680960" cy="548640"/>
          </a:xfrm>
          <a:prstGeom prst="rect">
            <a:avLst/>
          </a:prstGeom>
          <a:noFill/>
          <a:ln/>
        </p:spPr>
        <p:txBody>
          <a:bodyPr wrap="square" rtlCol="0" anchor="ctr"/>
          <a:lstStyle/>
          <a:p>
            <a:pPr algn="l" indent="0" marL="0">
              <a:buNone/>
            </a:pPr>
            <a:r>
              <a:rPr lang="en-US" sz="1600" dirty="0">
                <a:solidFill>
                  <a:srgbClr val="94A3B8"/>
                </a:solidFill>
                <a:latin typeface="Helvetica Neue" pitchFamily="34" charset="0"/>
                <a:ea typeface="Helvetica Neue" pitchFamily="34" charset="-122"/>
                <a:cs typeface="Helvetica Neue" pitchFamily="34" charset="-120"/>
              </a:rPr>
              <a:t>Situation • Complication • Resolution</a:t>
            </a:r>
            <a:endParaRPr lang="en-US" sz="1600" dirty="0"/>
          </a:p>
        </p:txBody>
      </p:sp>
      <p:sp>
        <p:nvSpPr>
          <p:cNvPr id="5" name="Shape 3"/>
          <p:cNvSpPr/>
          <p:nvPr/>
        </p:nvSpPr>
        <p:spPr>
          <a:xfrm>
            <a:off x="731520" y="3474720"/>
            <a:ext cx="2286000" cy="27432"/>
          </a:xfrm>
          <a:prstGeom prst="rect">
            <a:avLst/>
          </a:prstGeom>
          <a:solidFill>
            <a:srgbClr val="3B82F6"/>
          </a:solidFill>
          <a:ln/>
        </p:spPr>
      </p:sp>
      <p:sp>
        <p:nvSpPr>
          <p:cNvPr id="6" name="Text 4"/>
          <p:cNvSpPr/>
          <p:nvPr/>
        </p:nvSpPr>
        <p:spPr>
          <a:xfrm>
            <a:off x="731520" y="3749040"/>
            <a:ext cx="7680960" cy="365760"/>
          </a:xfrm>
          <a:prstGeom prst="rect">
            <a:avLst/>
          </a:prstGeom>
          <a:noFill/>
          <a:ln/>
        </p:spPr>
        <p:txBody>
          <a:bodyPr wrap="square" rtlCol="0" anchor="ctr"/>
          <a:lstStyle/>
          <a:p>
            <a:pPr algn="l" indent="0" marL="0">
              <a:buNone/>
            </a:pPr>
            <a:r>
              <a:rPr lang="en-US" sz="1200" dirty="0">
                <a:solidFill>
                  <a:srgbClr val="94A3B8"/>
                </a:solidFill>
                <a:latin typeface="Helvetica Neue" pitchFamily="34" charset="0"/>
                <a:ea typeface="Helvetica Neue" pitchFamily="34" charset="-122"/>
                <a:cs typeface="Helvetica Neue" pitchFamily="34" charset="-120"/>
              </a:rPr>
              <a:t>June 8, 2026  •  Office of the CSO — Board of Directors</a:t>
            </a:r>
            <a:endParaRPr lang="en-US" sz="1200" dirty="0"/>
          </a:p>
        </p:txBody>
      </p:sp>
      <p:sp>
        <p:nvSpPr>
          <p:cNvPr id="7" name="Text 5"/>
          <p:cNvSpPr/>
          <p:nvPr/>
        </p:nvSpPr>
        <p:spPr>
          <a:xfrm>
            <a:off x="731520" y="4572000"/>
            <a:ext cx="7680960" cy="274320"/>
          </a:xfrm>
          <a:prstGeom prst="rect">
            <a:avLst/>
          </a:prstGeom>
          <a:noFill/>
          <a:ln/>
        </p:spPr>
        <p:txBody>
          <a:bodyPr wrap="square" rtlCol="0" anchor="ctr"/>
          <a:lstStyle/>
          <a:p>
            <a:pPr algn="l" indent="0" marL="0">
              <a:buNone/>
            </a:pPr>
            <a:r>
              <a:rPr lang="en-US" sz="900" dirty="0">
                <a:solidFill>
                  <a:srgbClr val="1E293B"/>
                </a:solidFill>
                <a:latin typeface="Courier New" pitchFamily="34" charset="0"/>
                <a:ea typeface="Courier New" pitchFamily="34" charset="-122"/>
                <a:cs typeface="Courier New" pitchFamily="34" charset="-120"/>
              </a:rPr>
              <a:t>CONFIDENTIAL — FOR INTERNAL USE ONLY</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60F1D"/>
        </a:solidFill>
      </p:bgPr>
    </p:bg>
    <p:spTree>
      <p:nvGrpSpPr>
        <p:cNvPr id="1" name=""/>
        <p:cNvGrpSpPr/>
        <p:nvPr/>
      </p:nvGrpSpPr>
      <p:grpSpPr>
        <a:xfrm>
          <a:off x="0" y="0"/>
          <a:ext cx="0" cy="0"/>
          <a:chOff x="0" y="0"/>
          <a:chExt cx="0" cy="0"/>
        </a:xfrm>
      </p:grpSpPr>
      <p:sp>
        <p:nvSpPr>
          <p:cNvPr id="2" name="Text 0"/>
          <p:cNvSpPr/>
          <p:nvPr/>
        </p:nvSpPr>
        <p:spPr>
          <a:xfrm>
            <a:off x="731520" y="457200"/>
            <a:ext cx="2743200" cy="457200"/>
          </a:xfrm>
          <a:prstGeom prst="rect">
            <a:avLst/>
          </a:prstGeom>
          <a:noFill/>
          <a:ln/>
        </p:spPr>
        <p:txBody>
          <a:bodyPr wrap="square" rtlCol="0" anchor="ctr"/>
          <a:lstStyle/>
          <a:p>
            <a:pPr indent="0" marL="0">
              <a:buNone/>
            </a:pPr>
            <a:r>
              <a:rPr lang="en-US" sz="1100" b="1" spc="300" kern="0" dirty="0">
                <a:solidFill>
                  <a:srgbClr val="3B82F6"/>
                </a:solidFill>
                <a:latin typeface="Helvetica Neue" pitchFamily="34" charset="0"/>
                <a:ea typeface="Helvetica Neue" pitchFamily="34" charset="-122"/>
                <a:cs typeface="Helvetica Neue" pitchFamily="34" charset="-120"/>
              </a:rPr>
              <a:t>AGENDA</a:t>
            </a:r>
            <a:endParaRPr lang="en-US" sz="1100" dirty="0"/>
          </a:p>
        </p:txBody>
      </p:sp>
      <p:sp>
        <p:nvSpPr>
          <p:cNvPr id="3" name="Text 1"/>
          <p:cNvSpPr/>
          <p:nvPr/>
        </p:nvSpPr>
        <p:spPr>
          <a:xfrm>
            <a:off x="731520" y="1280160"/>
            <a:ext cx="548640" cy="411480"/>
          </a:xfrm>
          <a:prstGeom prst="rect">
            <a:avLst/>
          </a:prstGeom>
          <a:noFill/>
          <a:ln/>
        </p:spPr>
        <p:txBody>
          <a:bodyPr wrap="square" rtlCol="0" anchor="ctr"/>
          <a:lstStyle/>
          <a:p>
            <a:pPr algn="l" indent="0" marL="0">
              <a:buNone/>
            </a:pPr>
            <a:r>
              <a:rPr lang="en-US" sz="1400" b="1" dirty="0">
                <a:solidFill>
                  <a:srgbClr val="3B82F6"/>
                </a:solidFill>
                <a:latin typeface="Courier New" pitchFamily="34" charset="0"/>
                <a:ea typeface="Courier New" pitchFamily="34" charset="-122"/>
                <a:cs typeface="Courier New" pitchFamily="34" charset="-120"/>
              </a:rPr>
              <a:t>01</a:t>
            </a:r>
            <a:endParaRPr lang="en-US" sz="1400" dirty="0"/>
          </a:p>
        </p:txBody>
      </p:sp>
      <p:sp>
        <p:nvSpPr>
          <p:cNvPr id="4" name="Text 2"/>
          <p:cNvSpPr/>
          <p:nvPr/>
        </p:nvSpPr>
        <p:spPr>
          <a:xfrm>
            <a:off x="1463040" y="1280160"/>
            <a:ext cx="6766560" cy="411480"/>
          </a:xfrm>
          <a:prstGeom prst="rect">
            <a:avLst/>
          </a:prstGeom>
          <a:noFill/>
          <a:ln/>
        </p:spPr>
        <p:txBody>
          <a:bodyPr wrap="square" rtlCol="0" anchor="ctr"/>
          <a:lstStyle/>
          <a:p>
            <a:pPr algn="l" indent="0" marL="0">
              <a:buNone/>
            </a:pPr>
            <a:r>
              <a:rPr lang="en-US" sz="1600" dirty="0">
                <a:solidFill>
                  <a:srgbClr val="FFFFFF"/>
                </a:solidFill>
                <a:latin typeface="Helvetica Neue" pitchFamily="34" charset="0"/>
                <a:ea typeface="Helvetica Neue" pitchFamily="34" charset="-122"/>
                <a:cs typeface="Helvetica Neue" pitchFamily="34" charset="-120"/>
              </a:rPr>
              <a:t>Executive Summary — The Bridge to 2030 Digital Assets Pillar</a:t>
            </a:r>
            <a:endParaRPr lang="en-US" sz="1600" dirty="0"/>
          </a:p>
        </p:txBody>
      </p:sp>
      <p:sp>
        <p:nvSpPr>
          <p:cNvPr id="5" name="Shape 3"/>
          <p:cNvSpPr/>
          <p:nvPr/>
        </p:nvSpPr>
        <p:spPr>
          <a:xfrm>
            <a:off x="1463040" y="1783080"/>
            <a:ext cx="6766560" cy="9144"/>
          </a:xfrm>
          <a:prstGeom prst="rect">
            <a:avLst/>
          </a:prstGeom>
          <a:solidFill>
            <a:srgbClr val="1E293B"/>
          </a:solidFill>
          <a:ln/>
        </p:spPr>
      </p:sp>
      <p:sp>
        <p:nvSpPr>
          <p:cNvPr id="6" name="Text 4"/>
          <p:cNvSpPr/>
          <p:nvPr/>
        </p:nvSpPr>
        <p:spPr>
          <a:xfrm>
            <a:off x="731520" y="1920240"/>
            <a:ext cx="548640" cy="411480"/>
          </a:xfrm>
          <a:prstGeom prst="rect">
            <a:avLst/>
          </a:prstGeom>
          <a:noFill/>
          <a:ln/>
        </p:spPr>
        <p:txBody>
          <a:bodyPr wrap="square" rtlCol="0" anchor="ctr"/>
          <a:lstStyle/>
          <a:p>
            <a:pPr algn="l" indent="0" marL="0">
              <a:buNone/>
            </a:pPr>
            <a:r>
              <a:rPr lang="en-US" sz="1400" b="1" dirty="0">
                <a:solidFill>
                  <a:srgbClr val="3B82F6"/>
                </a:solidFill>
                <a:latin typeface="Courier New" pitchFamily="34" charset="0"/>
                <a:ea typeface="Courier New" pitchFamily="34" charset="-122"/>
                <a:cs typeface="Courier New" pitchFamily="34" charset="-120"/>
              </a:rPr>
              <a:t>02</a:t>
            </a:r>
            <a:endParaRPr lang="en-US" sz="1400" dirty="0"/>
          </a:p>
        </p:txBody>
      </p:sp>
      <p:sp>
        <p:nvSpPr>
          <p:cNvPr id="7" name="Text 5"/>
          <p:cNvSpPr/>
          <p:nvPr/>
        </p:nvSpPr>
        <p:spPr>
          <a:xfrm>
            <a:off x="1463040" y="1920240"/>
            <a:ext cx="6766560" cy="411480"/>
          </a:xfrm>
          <a:prstGeom prst="rect">
            <a:avLst/>
          </a:prstGeom>
          <a:noFill/>
          <a:ln/>
        </p:spPr>
        <p:txBody>
          <a:bodyPr wrap="square" rtlCol="0" anchor="ctr"/>
          <a:lstStyle/>
          <a:p>
            <a:pPr algn="l" indent="0" marL="0">
              <a:buNone/>
            </a:pPr>
            <a:r>
              <a:rPr lang="en-US" sz="1600" dirty="0">
                <a:solidFill>
                  <a:srgbClr val="FFFFFF"/>
                </a:solidFill>
                <a:latin typeface="Helvetica Neue" pitchFamily="34" charset="0"/>
                <a:ea typeface="Helvetica Neue" pitchFamily="34" charset="-122"/>
                <a:cs typeface="Helvetica Neue" pitchFamily="34" charset="-120"/>
              </a:rPr>
              <a:t>Situation — The Industry Has Crossed the Structural Threshold</a:t>
            </a:r>
            <a:endParaRPr lang="en-US" sz="1600" dirty="0"/>
          </a:p>
        </p:txBody>
      </p:sp>
      <p:sp>
        <p:nvSpPr>
          <p:cNvPr id="8" name="Shape 6"/>
          <p:cNvSpPr/>
          <p:nvPr/>
        </p:nvSpPr>
        <p:spPr>
          <a:xfrm>
            <a:off x="1463040" y="2423160"/>
            <a:ext cx="6766560" cy="9144"/>
          </a:xfrm>
          <a:prstGeom prst="rect">
            <a:avLst/>
          </a:prstGeom>
          <a:solidFill>
            <a:srgbClr val="1E293B"/>
          </a:solidFill>
          <a:ln/>
        </p:spPr>
      </p:sp>
      <p:sp>
        <p:nvSpPr>
          <p:cNvPr id="9" name="Text 7"/>
          <p:cNvSpPr/>
          <p:nvPr/>
        </p:nvSpPr>
        <p:spPr>
          <a:xfrm>
            <a:off x="731520" y="2560320"/>
            <a:ext cx="548640" cy="411480"/>
          </a:xfrm>
          <a:prstGeom prst="rect">
            <a:avLst/>
          </a:prstGeom>
          <a:noFill/>
          <a:ln/>
        </p:spPr>
        <p:txBody>
          <a:bodyPr wrap="square" rtlCol="0" anchor="ctr"/>
          <a:lstStyle/>
          <a:p>
            <a:pPr algn="l" indent="0" marL="0">
              <a:buNone/>
            </a:pPr>
            <a:r>
              <a:rPr lang="en-US" sz="1400" b="1" dirty="0">
                <a:solidFill>
                  <a:srgbClr val="3B82F6"/>
                </a:solidFill>
                <a:latin typeface="Courier New" pitchFamily="34" charset="0"/>
                <a:ea typeface="Courier New" pitchFamily="34" charset="-122"/>
                <a:cs typeface="Courier New" pitchFamily="34" charset="-120"/>
              </a:rPr>
              <a:t>03</a:t>
            </a:r>
            <a:endParaRPr lang="en-US" sz="1400" dirty="0"/>
          </a:p>
        </p:txBody>
      </p:sp>
      <p:sp>
        <p:nvSpPr>
          <p:cNvPr id="10" name="Text 8"/>
          <p:cNvSpPr/>
          <p:nvPr/>
        </p:nvSpPr>
        <p:spPr>
          <a:xfrm>
            <a:off x="1463040" y="2560320"/>
            <a:ext cx="6766560" cy="411480"/>
          </a:xfrm>
          <a:prstGeom prst="rect">
            <a:avLst/>
          </a:prstGeom>
          <a:noFill/>
          <a:ln/>
        </p:spPr>
        <p:txBody>
          <a:bodyPr wrap="square" rtlCol="0" anchor="ctr"/>
          <a:lstStyle/>
          <a:p>
            <a:pPr algn="l" indent="0" marL="0">
              <a:buNone/>
            </a:pPr>
            <a:r>
              <a:rPr lang="en-US" sz="1600" dirty="0">
                <a:solidFill>
                  <a:srgbClr val="FFFFFF"/>
                </a:solidFill>
                <a:latin typeface="Helvetica Neue" pitchFamily="34" charset="0"/>
                <a:ea typeface="Helvetica Neue" pitchFamily="34" charset="-122"/>
                <a:cs typeface="Helvetica Neue" pitchFamily="34" charset="-120"/>
              </a:rPr>
              <a:t>Situation — Our Centre Has a Credible First-Mover Position</a:t>
            </a:r>
            <a:endParaRPr lang="en-US" sz="1600" dirty="0"/>
          </a:p>
        </p:txBody>
      </p:sp>
      <p:sp>
        <p:nvSpPr>
          <p:cNvPr id="11" name="Shape 9"/>
          <p:cNvSpPr/>
          <p:nvPr/>
        </p:nvSpPr>
        <p:spPr>
          <a:xfrm>
            <a:off x="1463040" y="3063240"/>
            <a:ext cx="6766560" cy="9144"/>
          </a:xfrm>
          <a:prstGeom prst="rect">
            <a:avLst/>
          </a:prstGeom>
          <a:solidFill>
            <a:srgbClr val="1E293B"/>
          </a:solidFill>
          <a:ln/>
        </p:spPr>
      </p:sp>
      <p:sp>
        <p:nvSpPr>
          <p:cNvPr id="12" name="Text 10"/>
          <p:cNvSpPr/>
          <p:nvPr/>
        </p:nvSpPr>
        <p:spPr>
          <a:xfrm>
            <a:off x="731520" y="3200400"/>
            <a:ext cx="548640" cy="411480"/>
          </a:xfrm>
          <a:prstGeom prst="rect">
            <a:avLst/>
          </a:prstGeom>
          <a:noFill/>
          <a:ln/>
        </p:spPr>
        <p:txBody>
          <a:bodyPr wrap="square" rtlCol="0" anchor="ctr"/>
          <a:lstStyle/>
          <a:p>
            <a:pPr algn="l" indent="0" marL="0">
              <a:buNone/>
            </a:pPr>
            <a:r>
              <a:rPr lang="en-US" sz="1400" b="1" dirty="0">
                <a:solidFill>
                  <a:srgbClr val="3B82F6"/>
                </a:solidFill>
                <a:latin typeface="Courier New" pitchFamily="34" charset="0"/>
                <a:ea typeface="Courier New" pitchFamily="34" charset="-122"/>
                <a:cs typeface="Courier New" pitchFamily="34" charset="-120"/>
              </a:rPr>
              <a:t>04</a:t>
            </a:r>
            <a:endParaRPr lang="en-US" sz="1400" dirty="0"/>
          </a:p>
        </p:txBody>
      </p:sp>
      <p:sp>
        <p:nvSpPr>
          <p:cNvPr id="13" name="Text 11"/>
          <p:cNvSpPr/>
          <p:nvPr/>
        </p:nvSpPr>
        <p:spPr>
          <a:xfrm>
            <a:off x="1463040" y="3200400"/>
            <a:ext cx="6766560" cy="411480"/>
          </a:xfrm>
          <a:prstGeom prst="rect">
            <a:avLst/>
          </a:prstGeom>
          <a:noFill/>
          <a:ln/>
        </p:spPr>
        <p:txBody>
          <a:bodyPr wrap="square" rtlCol="0" anchor="ctr"/>
          <a:lstStyle/>
          <a:p>
            <a:pPr algn="l" indent="0" marL="0">
              <a:buNone/>
            </a:pPr>
            <a:r>
              <a:rPr lang="en-US" sz="1600" dirty="0">
                <a:solidFill>
                  <a:srgbClr val="FFFFFF"/>
                </a:solidFill>
                <a:latin typeface="Helvetica Neue" pitchFamily="34" charset="0"/>
                <a:ea typeface="Helvetica Neue" pitchFamily="34" charset="-122"/>
                <a:cs typeface="Helvetica Neue" pitchFamily="34" charset="-120"/>
              </a:rPr>
              <a:t>Complication — DIFC / VARA: The Direct Threat</a:t>
            </a:r>
            <a:endParaRPr lang="en-US" sz="1600" dirty="0"/>
          </a:p>
        </p:txBody>
      </p:sp>
      <p:sp>
        <p:nvSpPr>
          <p:cNvPr id="14" name="Shape 12"/>
          <p:cNvSpPr/>
          <p:nvPr/>
        </p:nvSpPr>
        <p:spPr>
          <a:xfrm>
            <a:off x="1463040" y="3703320"/>
            <a:ext cx="6766560" cy="9144"/>
          </a:xfrm>
          <a:prstGeom prst="rect">
            <a:avLst/>
          </a:prstGeom>
          <a:solidFill>
            <a:srgbClr val="1E293B"/>
          </a:solidFill>
          <a:ln/>
        </p:spPr>
      </p:sp>
      <p:sp>
        <p:nvSpPr>
          <p:cNvPr id="15" name="Text 13"/>
          <p:cNvSpPr/>
          <p:nvPr/>
        </p:nvSpPr>
        <p:spPr>
          <a:xfrm>
            <a:off x="731520" y="3840480"/>
            <a:ext cx="548640" cy="411480"/>
          </a:xfrm>
          <a:prstGeom prst="rect">
            <a:avLst/>
          </a:prstGeom>
          <a:noFill/>
          <a:ln/>
        </p:spPr>
        <p:txBody>
          <a:bodyPr wrap="square" rtlCol="0" anchor="ctr"/>
          <a:lstStyle/>
          <a:p>
            <a:pPr algn="l" indent="0" marL="0">
              <a:buNone/>
            </a:pPr>
            <a:r>
              <a:rPr lang="en-US" sz="1400" b="1" dirty="0">
                <a:solidFill>
                  <a:srgbClr val="3B82F6"/>
                </a:solidFill>
                <a:latin typeface="Courier New" pitchFamily="34" charset="0"/>
                <a:ea typeface="Courier New" pitchFamily="34" charset="-122"/>
                <a:cs typeface="Courier New" pitchFamily="34" charset="-120"/>
              </a:rPr>
              <a:t>05</a:t>
            </a:r>
            <a:endParaRPr lang="en-US" sz="1400" dirty="0"/>
          </a:p>
        </p:txBody>
      </p:sp>
      <p:sp>
        <p:nvSpPr>
          <p:cNvPr id="16" name="Text 14"/>
          <p:cNvSpPr/>
          <p:nvPr/>
        </p:nvSpPr>
        <p:spPr>
          <a:xfrm>
            <a:off x="1463040" y="3840480"/>
            <a:ext cx="6766560" cy="411480"/>
          </a:xfrm>
          <a:prstGeom prst="rect">
            <a:avLst/>
          </a:prstGeom>
          <a:noFill/>
          <a:ln/>
        </p:spPr>
        <p:txBody>
          <a:bodyPr wrap="square" rtlCol="0" anchor="ctr"/>
          <a:lstStyle/>
          <a:p>
            <a:pPr algn="l" indent="0" marL="0">
              <a:buNone/>
            </a:pPr>
            <a:r>
              <a:rPr lang="en-US" sz="1600" dirty="0">
                <a:solidFill>
                  <a:srgbClr val="FFFFFF"/>
                </a:solidFill>
                <a:latin typeface="Helvetica Neue" pitchFamily="34" charset="0"/>
                <a:ea typeface="Helvetica Neue" pitchFamily="34" charset="-122"/>
                <a:cs typeface="Helvetica Neue" pitchFamily="34" charset="-120"/>
              </a:rPr>
              <a:t>Complication — Hong Kong: The Asia Anchor</a:t>
            </a:r>
            <a:endParaRPr lang="en-US" sz="1600" dirty="0"/>
          </a:p>
        </p:txBody>
      </p:sp>
      <p:sp>
        <p:nvSpPr>
          <p:cNvPr id="17" name="Shape 15"/>
          <p:cNvSpPr/>
          <p:nvPr/>
        </p:nvSpPr>
        <p:spPr>
          <a:xfrm>
            <a:off x="1463040" y="4343400"/>
            <a:ext cx="6766560" cy="9144"/>
          </a:xfrm>
          <a:prstGeom prst="rect">
            <a:avLst/>
          </a:prstGeom>
          <a:solidFill>
            <a:srgbClr val="1E293B"/>
          </a:solidFill>
          <a:ln/>
        </p:spPr>
      </p:sp>
      <p:sp>
        <p:nvSpPr>
          <p:cNvPr id="18" name="Text 16"/>
          <p:cNvSpPr/>
          <p:nvPr/>
        </p:nvSpPr>
        <p:spPr>
          <a:xfrm>
            <a:off x="731520" y="4480560"/>
            <a:ext cx="548640" cy="411480"/>
          </a:xfrm>
          <a:prstGeom prst="rect">
            <a:avLst/>
          </a:prstGeom>
          <a:noFill/>
          <a:ln/>
        </p:spPr>
        <p:txBody>
          <a:bodyPr wrap="square" rtlCol="0" anchor="ctr"/>
          <a:lstStyle/>
          <a:p>
            <a:pPr algn="l" indent="0" marL="0">
              <a:buNone/>
            </a:pPr>
            <a:r>
              <a:rPr lang="en-US" sz="1400" b="1" dirty="0">
                <a:solidFill>
                  <a:srgbClr val="3B82F6"/>
                </a:solidFill>
                <a:latin typeface="Courier New" pitchFamily="34" charset="0"/>
                <a:ea typeface="Courier New" pitchFamily="34" charset="-122"/>
                <a:cs typeface="Courier New" pitchFamily="34" charset="-120"/>
              </a:rPr>
              <a:t>06</a:t>
            </a:r>
            <a:endParaRPr lang="en-US" sz="1400" dirty="0"/>
          </a:p>
        </p:txBody>
      </p:sp>
      <p:sp>
        <p:nvSpPr>
          <p:cNvPr id="19" name="Text 17"/>
          <p:cNvSpPr/>
          <p:nvPr/>
        </p:nvSpPr>
        <p:spPr>
          <a:xfrm>
            <a:off x="1463040" y="4480560"/>
            <a:ext cx="6766560" cy="411480"/>
          </a:xfrm>
          <a:prstGeom prst="rect">
            <a:avLst/>
          </a:prstGeom>
          <a:noFill/>
          <a:ln/>
        </p:spPr>
        <p:txBody>
          <a:bodyPr wrap="square" rtlCol="0" anchor="ctr"/>
          <a:lstStyle/>
          <a:p>
            <a:pPr algn="l" indent="0" marL="0">
              <a:buNone/>
            </a:pPr>
            <a:r>
              <a:rPr lang="en-US" sz="1600" dirty="0">
                <a:solidFill>
                  <a:srgbClr val="FFFFFF"/>
                </a:solidFill>
                <a:latin typeface="Helvetica Neue" pitchFamily="34" charset="0"/>
                <a:ea typeface="Helvetica Neue" pitchFamily="34" charset="-122"/>
                <a:cs typeface="Helvetica Neue" pitchFamily="34" charset="-120"/>
              </a:rPr>
              <a:t>Complication — ADGM and the GCC Coordination Risk</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60F1D"/>
        </a:solidFill>
      </p:bgPr>
    </p:bg>
    <p:spTree>
      <p:nvGrpSpPr>
        <p:cNvPr id="1" name=""/>
        <p:cNvGrpSpPr/>
        <p:nvPr/>
      </p:nvGrpSpPr>
      <p:grpSpPr>
        <a:xfrm>
          <a:off x="0" y="0"/>
          <a:ext cx="0" cy="0"/>
          <a:chOff x="0" y="0"/>
          <a:chExt cx="0" cy="0"/>
        </a:xfrm>
      </p:grpSpPr>
      <p:sp>
        <p:nvSpPr>
          <p:cNvPr id="2" name="Shape 0"/>
          <p:cNvSpPr/>
          <p:nvPr/>
        </p:nvSpPr>
        <p:spPr>
          <a:xfrm>
            <a:off x="0" y="0"/>
            <a:ext cx="12192000" cy="36576"/>
          </a:xfrm>
          <a:prstGeom prst="rect">
            <a:avLst/>
          </a:prstGeom>
          <a:solidFill>
            <a:srgbClr val="3B82F6"/>
          </a:solidFill>
          <a:ln/>
        </p:spPr>
      </p:sp>
      <p:sp>
        <p:nvSpPr>
          <p:cNvPr id="3" name="Text 1"/>
          <p:cNvSpPr/>
          <p:nvPr/>
        </p:nvSpPr>
        <p:spPr>
          <a:xfrm>
            <a:off x="731520" y="320040"/>
            <a:ext cx="3657600" cy="320040"/>
          </a:xfrm>
          <a:prstGeom prst="rect">
            <a:avLst/>
          </a:prstGeom>
          <a:noFill/>
          <a:ln/>
        </p:spPr>
        <p:txBody>
          <a:bodyPr wrap="square" rtlCol="0" anchor="ctr"/>
          <a:lstStyle/>
          <a:p>
            <a:pPr indent="0" marL="0">
              <a:buNone/>
            </a:pPr>
            <a:r>
              <a:rPr lang="en-US" sz="1000" b="1" spc="200" kern="0" dirty="0">
                <a:solidFill>
                  <a:srgbClr val="3B82F6"/>
                </a:solidFill>
                <a:latin typeface="Helvetica Neue" pitchFamily="34" charset="0"/>
                <a:ea typeface="Helvetica Neue" pitchFamily="34" charset="-122"/>
                <a:cs typeface="Helvetica Neue" pitchFamily="34" charset="-120"/>
              </a:rPr>
              <a:t>SITUATION</a:t>
            </a:r>
            <a:endParaRPr lang="en-US" sz="1000" dirty="0"/>
          </a:p>
        </p:txBody>
      </p:sp>
      <p:sp>
        <p:nvSpPr>
          <p:cNvPr id="4" name="Text 2"/>
          <p:cNvSpPr/>
          <p:nvPr/>
        </p:nvSpPr>
        <p:spPr>
          <a:xfrm>
            <a:off x="731520" y="685800"/>
            <a:ext cx="7680960" cy="548640"/>
          </a:xfrm>
          <a:prstGeom prst="rect">
            <a:avLst/>
          </a:prstGeom>
          <a:noFill/>
          <a:ln/>
        </p:spPr>
        <p:txBody>
          <a:bodyPr wrap="square" rtlCol="0" anchor="ctr"/>
          <a:lstStyle/>
          <a:p>
            <a:pPr indent="0" marL="0">
              <a:buNone/>
            </a:pPr>
            <a:r>
              <a:rPr lang="en-US" sz="2200" b="1" dirty="0">
                <a:solidFill>
                  <a:srgbClr val="FFFFFF"/>
                </a:solidFill>
                <a:latin typeface="Helvetica Neue" pitchFamily="34" charset="0"/>
                <a:ea typeface="Helvetica Neue" pitchFamily="34" charset="-122"/>
                <a:cs typeface="Helvetica Neue" pitchFamily="34" charset="-120"/>
              </a:rPr>
              <a:t>Executive Summary — The Bridge to 2030 Digital Assets Pillar</a:t>
            </a:r>
            <a:endParaRPr lang="en-US" sz="2200" dirty="0"/>
          </a:p>
        </p:txBody>
      </p:sp>
      <p:sp>
        <p:nvSpPr>
          <p:cNvPr id="5" name="Text 3"/>
          <p:cNvSpPr/>
          <p:nvPr/>
        </p:nvSpPr>
        <p:spPr>
          <a:xfrm>
            <a:off x="731520" y="1371600"/>
            <a:ext cx="7680960" cy="3474720"/>
          </a:xfrm>
          <a:prstGeom prst="rect">
            <a:avLst/>
          </a:prstGeom>
          <a:noFill/>
          <a:ln/>
        </p:spPr>
        <p:txBody>
          <a:bodyPr wrap="square" rtlCol="0" anchor="t"/>
          <a:lstStyle/>
          <a:p>
            <a:pPr indent="0" marL="0">
              <a:lnSpc>
                <a:spcPct val="140000"/>
              </a:lnSpc>
              <a:spcAft>
                <a:spcPts val="800"/>
              </a:spcAft>
              <a:buNone/>
            </a:pPr>
            <a:r>
              <a:rPr lang="en-US" sz="1300" dirty="0">
                <a:solidFill>
                  <a:srgbClr val="E2E8F0"/>
                </a:solidFill>
                <a:latin typeface="Helvetica Neue" pitchFamily="34" charset="0"/>
                <a:ea typeface="Helvetica Neue" pitchFamily="34" charset="-122"/>
                <a:cs typeface="Helvetica Neue" pitchFamily="34" charset="-120"/>
              </a:rPr>
              <a:t>Our digital assets franchise is already material — 2,847 licensed entities, 7 tokenisation licences against a 2030 target of 25+, and tokenisation is Priority #1 of three 2026 strategic priorities. The first-mover window is closing in 12–18 months as DIFC, ADGM, and Hong Kong execute aggressive, well-funded, publicly-stated plays targeting the same institutional and crypto-native client base. The ask of the Board today: approve and resource a refreshed Virtual Asset framework that leads on tokenisation, wins the Asia-Pac fund re-domicile wave, captures the custody/collateral layer, and stands up a stablecoin regime — all on a 12-month, milestone-driven execution path. Move first, and digital assets becomes a destination category for our centre; wait, and we become a sub-scale add-on.</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60F1D"/>
        </a:solidFill>
      </p:bgPr>
    </p:bg>
    <p:spTree>
      <p:nvGrpSpPr>
        <p:cNvPr id="1" name=""/>
        <p:cNvGrpSpPr/>
        <p:nvPr/>
      </p:nvGrpSpPr>
      <p:grpSpPr>
        <a:xfrm>
          <a:off x="0" y="0"/>
          <a:ext cx="0" cy="0"/>
          <a:chOff x="0" y="0"/>
          <a:chExt cx="0" cy="0"/>
        </a:xfrm>
      </p:grpSpPr>
      <p:sp>
        <p:nvSpPr>
          <p:cNvPr id="2" name="Shape 0"/>
          <p:cNvSpPr/>
          <p:nvPr/>
        </p:nvSpPr>
        <p:spPr>
          <a:xfrm>
            <a:off x="0" y="0"/>
            <a:ext cx="12192000" cy="36576"/>
          </a:xfrm>
          <a:prstGeom prst="rect">
            <a:avLst/>
          </a:prstGeom>
          <a:solidFill>
            <a:srgbClr val="3B82F6"/>
          </a:solidFill>
          <a:ln/>
        </p:spPr>
      </p:sp>
      <p:sp>
        <p:nvSpPr>
          <p:cNvPr id="3" name="Text 1"/>
          <p:cNvSpPr/>
          <p:nvPr/>
        </p:nvSpPr>
        <p:spPr>
          <a:xfrm>
            <a:off x="731520" y="320040"/>
            <a:ext cx="3657600" cy="320040"/>
          </a:xfrm>
          <a:prstGeom prst="rect">
            <a:avLst/>
          </a:prstGeom>
          <a:noFill/>
          <a:ln/>
        </p:spPr>
        <p:txBody>
          <a:bodyPr wrap="square" rtlCol="0" anchor="ctr"/>
          <a:lstStyle/>
          <a:p>
            <a:pPr indent="0" marL="0">
              <a:buNone/>
            </a:pPr>
            <a:r>
              <a:rPr lang="en-US" sz="1000" b="1" spc="200" kern="0" dirty="0">
                <a:solidFill>
                  <a:srgbClr val="3B82F6"/>
                </a:solidFill>
                <a:latin typeface="Helvetica Neue" pitchFamily="34" charset="0"/>
                <a:ea typeface="Helvetica Neue" pitchFamily="34" charset="-122"/>
                <a:cs typeface="Helvetica Neue" pitchFamily="34" charset="-120"/>
              </a:rPr>
              <a:t>COMPLICATION</a:t>
            </a:r>
            <a:endParaRPr lang="en-US" sz="1000" dirty="0"/>
          </a:p>
        </p:txBody>
      </p:sp>
      <p:sp>
        <p:nvSpPr>
          <p:cNvPr id="4" name="Text 2"/>
          <p:cNvSpPr/>
          <p:nvPr/>
        </p:nvSpPr>
        <p:spPr>
          <a:xfrm>
            <a:off x="731520" y="685800"/>
            <a:ext cx="7680960" cy="548640"/>
          </a:xfrm>
          <a:prstGeom prst="rect">
            <a:avLst/>
          </a:prstGeom>
          <a:noFill/>
          <a:ln/>
        </p:spPr>
        <p:txBody>
          <a:bodyPr wrap="square" rtlCol="0" anchor="ctr"/>
          <a:lstStyle/>
          <a:p>
            <a:pPr indent="0" marL="0">
              <a:buNone/>
            </a:pPr>
            <a:r>
              <a:rPr lang="en-US" sz="2200" b="1" dirty="0">
                <a:solidFill>
                  <a:srgbClr val="FFFFFF"/>
                </a:solidFill>
                <a:latin typeface="Helvetica Neue" pitchFamily="34" charset="0"/>
                <a:ea typeface="Helvetica Neue" pitchFamily="34" charset="-122"/>
                <a:cs typeface="Helvetica Neue" pitchFamily="34" charset="-120"/>
              </a:rPr>
              <a:t>Situation — The Industry Has Crossed the Structural Threshold</a:t>
            </a:r>
            <a:endParaRPr lang="en-US" sz="2200" dirty="0"/>
          </a:p>
        </p:txBody>
      </p:sp>
      <p:sp>
        <p:nvSpPr>
          <p:cNvPr id="5" name="Text 3"/>
          <p:cNvSpPr/>
          <p:nvPr/>
        </p:nvSpPr>
        <p:spPr>
          <a:xfrm>
            <a:off x="731520" y="1371600"/>
            <a:ext cx="7680960" cy="3474720"/>
          </a:xfrm>
          <a:prstGeom prst="rect">
            <a:avLst/>
          </a:prstGeom>
          <a:noFill/>
          <a:ln/>
        </p:spPr>
        <p:txBody>
          <a:bodyPr wrap="square" rtlCol="0" anchor="t"/>
          <a:lstStyle/>
          <a:p>
            <a:pPr indent="0" marL="0">
              <a:lnSpc>
                <a:spcPct val="140000"/>
              </a:lnSpc>
              <a:spcAft>
                <a:spcPts val="800"/>
              </a:spcAft>
              <a:buNone/>
            </a:pPr>
            <a:r>
              <a:rPr lang="en-US" sz="1300" dirty="0">
                <a:solidFill>
                  <a:srgbClr val="E2E8F0"/>
                </a:solidFill>
                <a:latin typeface="Helvetica Neue" pitchFamily="34" charset="0"/>
                <a:ea typeface="Helvetica Neue" pitchFamily="34" charset="-122"/>
                <a:cs typeface="Helvetica Neue" pitchFamily="34" charset="-120"/>
              </a:rPr>
              <a:t>The digital assets industry has crossed from speculative asset class to structural market infrastructure. Globally, digital asset ETP AUM has reached $136.4B (+11.5% MoM), cumulative crypto ETP inflows since January 2024 stand at $87B, and Standard Chartered forecasts tokenised real-world assets on a credible path to $4T by 2028. The institutional flows are durable, not retail-driven. The dominant players are now BlackRock, JPMorgan, Standard Chartered, HSBC, Mastercard, Citi, Franklin Templeton, Ondo and Circle — the same institutions that already anchor our existing fund and capital-markets business, and which the centre is uniquely positioned to attract.</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60F1D"/>
        </a:solidFill>
      </p:bgPr>
    </p:bg>
    <p:spTree>
      <p:nvGrpSpPr>
        <p:cNvPr id="1" name=""/>
        <p:cNvGrpSpPr/>
        <p:nvPr/>
      </p:nvGrpSpPr>
      <p:grpSpPr>
        <a:xfrm>
          <a:off x="0" y="0"/>
          <a:ext cx="0" cy="0"/>
          <a:chOff x="0" y="0"/>
          <a:chExt cx="0" cy="0"/>
        </a:xfrm>
      </p:grpSpPr>
      <p:sp>
        <p:nvSpPr>
          <p:cNvPr id="2" name="Shape 0"/>
          <p:cNvSpPr/>
          <p:nvPr/>
        </p:nvSpPr>
        <p:spPr>
          <a:xfrm>
            <a:off x="0" y="0"/>
            <a:ext cx="12192000" cy="36576"/>
          </a:xfrm>
          <a:prstGeom prst="rect">
            <a:avLst/>
          </a:prstGeom>
          <a:solidFill>
            <a:srgbClr val="3B82F6"/>
          </a:solidFill>
          <a:ln/>
        </p:spPr>
      </p:sp>
      <p:sp>
        <p:nvSpPr>
          <p:cNvPr id="3" name="Text 1"/>
          <p:cNvSpPr/>
          <p:nvPr/>
        </p:nvSpPr>
        <p:spPr>
          <a:xfrm>
            <a:off x="731520" y="320040"/>
            <a:ext cx="3657600" cy="320040"/>
          </a:xfrm>
          <a:prstGeom prst="rect">
            <a:avLst/>
          </a:prstGeom>
          <a:noFill/>
          <a:ln/>
        </p:spPr>
        <p:txBody>
          <a:bodyPr wrap="square" rtlCol="0" anchor="ctr"/>
          <a:lstStyle/>
          <a:p>
            <a:pPr indent="0" marL="0">
              <a:buNone/>
            </a:pPr>
            <a:r>
              <a:rPr lang="en-US" sz="1000" b="1" spc="200" kern="0" dirty="0">
                <a:solidFill>
                  <a:srgbClr val="3B82F6"/>
                </a:solidFill>
                <a:latin typeface="Helvetica Neue" pitchFamily="34" charset="0"/>
                <a:ea typeface="Helvetica Neue" pitchFamily="34" charset="-122"/>
                <a:cs typeface="Helvetica Neue" pitchFamily="34" charset="-120"/>
              </a:rPr>
              <a:t>RESOLUTION</a:t>
            </a:r>
            <a:endParaRPr lang="en-US" sz="1000" dirty="0"/>
          </a:p>
        </p:txBody>
      </p:sp>
      <p:sp>
        <p:nvSpPr>
          <p:cNvPr id="4" name="Text 2"/>
          <p:cNvSpPr/>
          <p:nvPr/>
        </p:nvSpPr>
        <p:spPr>
          <a:xfrm>
            <a:off x="731520" y="685800"/>
            <a:ext cx="7680960" cy="548640"/>
          </a:xfrm>
          <a:prstGeom prst="rect">
            <a:avLst/>
          </a:prstGeom>
          <a:noFill/>
          <a:ln/>
        </p:spPr>
        <p:txBody>
          <a:bodyPr wrap="square" rtlCol="0" anchor="ctr"/>
          <a:lstStyle/>
          <a:p>
            <a:pPr indent="0" marL="0">
              <a:buNone/>
            </a:pPr>
            <a:r>
              <a:rPr lang="en-US" sz="2200" b="1" dirty="0">
                <a:solidFill>
                  <a:srgbClr val="FFFFFF"/>
                </a:solidFill>
                <a:latin typeface="Helvetica Neue" pitchFamily="34" charset="0"/>
                <a:ea typeface="Helvetica Neue" pitchFamily="34" charset="-122"/>
                <a:cs typeface="Helvetica Neue" pitchFamily="34" charset="-120"/>
              </a:rPr>
              <a:t>Situation — Our Centre Has a Credible First-Mover Position</a:t>
            </a:r>
            <a:endParaRPr lang="en-US" sz="2200" dirty="0"/>
          </a:p>
        </p:txBody>
      </p:sp>
      <p:sp>
        <p:nvSpPr>
          <p:cNvPr id="5" name="Text 3"/>
          <p:cNvSpPr/>
          <p:nvPr/>
        </p:nvSpPr>
        <p:spPr>
          <a:xfrm>
            <a:off x="731520" y="1371600"/>
            <a:ext cx="7680960" cy="3474720"/>
          </a:xfrm>
          <a:prstGeom prst="rect">
            <a:avLst/>
          </a:prstGeom>
          <a:noFill/>
          <a:ln/>
        </p:spPr>
        <p:txBody>
          <a:bodyPr wrap="square" rtlCol="0" anchor="t"/>
          <a:lstStyle/>
          <a:p>
            <a:pPr indent="0" marL="0">
              <a:lnSpc>
                <a:spcPct val="140000"/>
              </a:lnSpc>
              <a:spcAft>
                <a:spcPts val="800"/>
              </a:spcAft>
              <a:buNone/>
            </a:pPr>
            <a:r>
              <a:rPr lang="en-US" sz="1300" dirty="0">
                <a:solidFill>
                  <a:srgbClr val="E2E8F0"/>
                </a:solidFill>
                <a:latin typeface="Helvetica Neue" pitchFamily="34" charset="0"/>
                <a:ea typeface="Helvetica Neue" pitchFamily="34" charset="-122"/>
                <a:cs typeface="Helvetica Neue" pitchFamily="34" charset="-120"/>
              </a:rPr>
              <a:t>Q1 2026 financials underpin the case for investment: revenue $284M (+6.4% YoY), operating margin 31.2% — the financial centre is performing and has the balance-sheet capacity to invest. The digital assets franchise is already material: 2,847 licensed entities operate from the centre, and we have issued 7 tokenisation licences to date against a 2030 target of 25+. Tokenisation is Priority #1 of three 2026 strategic priorities in the "Bridge to 2030" plan. The strategy is best framed as upgrading our existing capital-markets infrastructure — settlement, collateral, and fund administration — not as a parallel "crypto initiative" competing for incremental capital.</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60F1D"/>
        </a:solidFill>
      </p:bgPr>
    </p:bg>
    <p:spTree>
      <p:nvGrpSpPr>
        <p:cNvPr id="1" name=""/>
        <p:cNvGrpSpPr/>
        <p:nvPr/>
      </p:nvGrpSpPr>
      <p:grpSpPr>
        <a:xfrm>
          <a:off x="0" y="0"/>
          <a:ext cx="0" cy="0"/>
          <a:chOff x="0" y="0"/>
          <a:chExt cx="0" cy="0"/>
        </a:xfrm>
      </p:grpSpPr>
      <p:sp>
        <p:nvSpPr>
          <p:cNvPr id="2" name="Shape 0"/>
          <p:cNvSpPr/>
          <p:nvPr/>
        </p:nvSpPr>
        <p:spPr>
          <a:xfrm>
            <a:off x="0" y="0"/>
            <a:ext cx="12192000" cy="36576"/>
          </a:xfrm>
          <a:prstGeom prst="rect">
            <a:avLst/>
          </a:prstGeom>
          <a:solidFill>
            <a:srgbClr val="3B82F6"/>
          </a:solidFill>
          <a:ln/>
        </p:spPr>
      </p:sp>
      <p:sp>
        <p:nvSpPr>
          <p:cNvPr id="3" name="Text 1"/>
          <p:cNvSpPr/>
          <p:nvPr/>
        </p:nvSpPr>
        <p:spPr>
          <a:xfrm>
            <a:off x="731520" y="320040"/>
            <a:ext cx="3657600" cy="320040"/>
          </a:xfrm>
          <a:prstGeom prst="rect">
            <a:avLst/>
          </a:prstGeom>
          <a:noFill/>
          <a:ln/>
        </p:spPr>
        <p:txBody>
          <a:bodyPr wrap="square" rtlCol="0" anchor="ctr"/>
          <a:lstStyle/>
          <a:p>
            <a:pPr indent="0" marL="0">
              <a:buNone/>
            </a:pPr>
            <a:r>
              <a:rPr lang="en-US" sz="1000" b="1" spc="200" kern="0" dirty="0">
                <a:solidFill>
                  <a:srgbClr val="3B82F6"/>
                </a:solidFill>
                <a:latin typeface="Helvetica Neue" pitchFamily="34" charset="0"/>
                <a:ea typeface="Helvetica Neue" pitchFamily="34" charset="-122"/>
                <a:cs typeface="Helvetica Neue" pitchFamily="34" charset="-120"/>
              </a:rPr>
              <a:t>SECTION 4</a:t>
            </a:r>
            <a:endParaRPr lang="en-US" sz="1000" dirty="0"/>
          </a:p>
        </p:txBody>
      </p:sp>
      <p:sp>
        <p:nvSpPr>
          <p:cNvPr id="4" name="Text 2"/>
          <p:cNvSpPr/>
          <p:nvPr/>
        </p:nvSpPr>
        <p:spPr>
          <a:xfrm>
            <a:off x="731520" y="685800"/>
            <a:ext cx="7680960" cy="548640"/>
          </a:xfrm>
          <a:prstGeom prst="rect">
            <a:avLst/>
          </a:prstGeom>
          <a:noFill/>
          <a:ln/>
        </p:spPr>
        <p:txBody>
          <a:bodyPr wrap="square" rtlCol="0" anchor="ctr"/>
          <a:lstStyle/>
          <a:p>
            <a:pPr indent="0" marL="0">
              <a:buNone/>
            </a:pPr>
            <a:r>
              <a:rPr lang="en-US" sz="2200" b="1" dirty="0">
                <a:solidFill>
                  <a:srgbClr val="FFFFFF"/>
                </a:solidFill>
                <a:latin typeface="Helvetica Neue" pitchFamily="34" charset="0"/>
                <a:ea typeface="Helvetica Neue" pitchFamily="34" charset="-122"/>
                <a:cs typeface="Helvetica Neue" pitchFamily="34" charset="-120"/>
              </a:rPr>
              <a:t>Complication — DIFC / VARA: The Direct Threat</a:t>
            </a:r>
            <a:endParaRPr lang="en-US" sz="2200" dirty="0"/>
          </a:p>
        </p:txBody>
      </p:sp>
      <p:sp>
        <p:nvSpPr>
          <p:cNvPr id="5" name="Text 3"/>
          <p:cNvSpPr/>
          <p:nvPr/>
        </p:nvSpPr>
        <p:spPr>
          <a:xfrm>
            <a:off x="731520" y="1371600"/>
            <a:ext cx="7680960" cy="3474720"/>
          </a:xfrm>
          <a:prstGeom prst="rect">
            <a:avLst/>
          </a:prstGeom>
          <a:noFill/>
          <a:ln/>
        </p:spPr>
        <p:txBody>
          <a:bodyPr wrap="square" rtlCol="0" anchor="t"/>
          <a:lstStyle/>
          <a:p>
            <a:pPr indent="0" marL="0">
              <a:lnSpc>
                <a:spcPct val="140000"/>
              </a:lnSpc>
              <a:spcAft>
                <a:spcPts val="800"/>
              </a:spcAft>
              <a:buNone/>
            </a:pPr>
            <a:r>
              <a:rPr lang="en-US" sz="1300" dirty="0">
                <a:solidFill>
                  <a:srgbClr val="E2E8F0"/>
                </a:solidFill>
                <a:latin typeface="Helvetica Neue" pitchFamily="34" charset="0"/>
                <a:ea typeface="Helvetica Neue" pitchFamily="34" charset="-122"/>
                <a:cs typeface="Helvetica Neue" pitchFamily="34" charset="-120"/>
              </a:rPr>
              <a:t>VARA is the world's first standalone virtual asset regulator, with 12-week full licensing, 0% qualifying VA income tax (a 50-year holiday now extended to 2049), and anchor tenants OKX, Crypto.com, Binance, Bybit, Hex Trust and CoinMENA. DIFC's CP-2026-04 consultation closes in 8 weeks and proposes a lower minimum capital threshold for tokenisation issuers — a direct competitive shot at our franchise. The Board has already identified "digital-asset regulatory divergence" as a Tier-1 risk in the Annual Strategy 2026, and has formally approved (Resolution 2026-Q1-03) accelerated publication of our refreshed Virtual Asset framework for Q3 2026. Any slippage gives DIFC unilateral advantage.</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60F1D"/>
        </a:solidFill>
      </p:bgPr>
    </p:bg>
    <p:spTree>
      <p:nvGrpSpPr>
        <p:cNvPr id="1" name=""/>
        <p:cNvGrpSpPr/>
        <p:nvPr/>
      </p:nvGrpSpPr>
      <p:grpSpPr>
        <a:xfrm>
          <a:off x="0" y="0"/>
          <a:ext cx="0" cy="0"/>
          <a:chOff x="0" y="0"/>
          <a:chExt cx="0" cy="0"/>
        </a:xfrm>
      </p:grpSpPr>
      <p:sp>
        <p:nvSpPr>
          <p:cNvPr id="2" name="Shape 0"/>
          <p:cNvSpPr/>
          <p:nvPr/>
        </p:nvSpPr>
        <p:spPr>
          <a:xfrm>
            <a:off x="0" y="0"/>
            <a:ext cx="12192000" cy="36576"/>
          </a:xfrm>
          <a:prstGeom prst="rect">
            <a:avLst/>
          </a:prstGeom>
          <a:solidFill>
            <a:srgbClr val="3B82F6"/>
          </a:solidFill>
          <a:ln/>
        </p:spPr>
      </p:sp>
      <p:sp>
        <p:nvSpPr>
          <p:cNvPr id="3" name="Text 1"/>
          <p:cNvSpPr/>
          <p:nvPr/>
        </p:nvSpPr>
        <p:spPr>
          <a:xfrm>
            <a:off x="731520" y="320040"/>
            <a:ext cx="3657600" cy="320040"/>
          </a:xfrm>
          <a:prstGeom prst="rect">
            <a:avLst/>
          </a:prstGeom>
          <a:noFill/>
          <a:ln/>
        </p:spPr>
        <p:txBody>
          <a:bodyPr wrap="square" rtlCol="0" anchor="ctr"/>
          <a:lstStyle/>
          <a:p>
            <a:pPr indent="0" marL="0">
              <a:buNone/>
            </a:pPr>
            <a:r>
              <a:rPr lang="en-US" sz="1000" b="1" spc="200" kern="0" dirty="0">
                <a:solidFill>
                  <a:srgbClr val="3B82F6"/>
                </a:solidFill>
                <a:latin typeface="Helvetica Neue" pitchFamily="34" charset="0"/>
                <a:ea typeface="Helvetica Neue" pitchFamily="34" charset="-122"/>
                <a:cs typeface="Helvetica Neue" pitchFamily="34" charset="-120"/>
              </a:rPr>
              <a:t>SECTION 5</a:t>
            </a:r>
            <a:endParaRPr lang="en-US" sz="1000" dirty="0"/>
          </a:p>
        </p:txBody>
      </p:sp>
      <p:sp>
        <p:nvSpPr>
          <p:cNvPr id="4" name="Text 2"/>
          <p:cNvSpPr/>
          <p:nvPr/>
        </p:nvSpPr>
        <p:spPr>
          <a:xfrm>
            <a:off x="731520" y="685800"/>
            <a:ext cx="7680960" cy="548640"/>
          </a:xfrm>
          <a:prstGeom prst="rect">
            <a:avLst/>
          </a:prstGeom>
          <a:noFill/>
          <a:ln/>
        </p:spPr>
        <p:txBody>
          <a:bodyPr wrap="square" rtlCol="0" anchor="ctr"/>
          <a:lstStyle/>
          <a:p>
            <a:pPr indent="0" marL="0">
              <a:buNone/>
            </a:pPr>
            <a:r>
              <a:rPr lang="en-US" sz="2200" b="1" dirty="0">
                <a:solidFill>
                  <a:srgbClr val="FFFFFF"/>
                </a:solidFill>
                <a:latin typeface="Helvetica Neue" pitchFamily="34" charset="0"/>
                <a:ea typeface="Helvetica Neue" pitchFamily="34" charset="-122"/>
                <a:cs typeface="Helvetica Neue" pitchFamily="34" charset="-120"/>
              </a:rPr>
              <a:t>Complication — Hong Kong: The Asia Anchor</a:t>
            </a:r>
            <a:endParaRPr lang="en-US" sz="2200" dirty="0"/>
          </a:p>
        </p:txBody>
      </p:sp>
      <p:sp>
        <p:nvSpPr>
          <p:cNvPr id="5" name="Text 3"/>
          <p:cNvSpPr/>
          <p:nvPr/>
        </p:nvSpPr>
        <p:spPr>
          <a:xfrm>
            <a:off x="731520" y="1371600"/>
            <a:ext cx="7680960" cy="3474720"/>
          </a:xfrm>
          <a:prstGeom prst="rect">
            <a:avLst/>
          </a:prstGeom>
          <a:noFill/>
          <a:ln/>
        </p:spPr>
        <p:txBody>
          <a:bodyPr wrap="square" rtlCol="0" anchor="t"/>
          <a:lstStyle/>
          <a:p>
            <a:pPr indent="0" marL="0">
              <a:lnSpc>
                <a:spcPct val="140000"/>
              </a:lnSpc>
              <a:spcAft>
                <a:spcPts val="800"/>
              </a:spcAft>
              <a:buNone/>
            </a:pPr>
            <a:r>
              <a:rPr lang="en-US" sz="1300" dirty="0">
                <a:solidFill>
                  <a:srgbClr val="E2E8F0"/>
                </a:solidFill>
                <a:latin typeface="Helvetica Neue" pitchFamily="34" charset="0"/>
                <a:ea typeface="Helvetica Neue" pitchFamily="34" charset="-122"/>
                <a:cs typeface="Helvetica Neue" pitchFamily="34" charset="-120"/>
              </a:rPr>
              <a:t>Hong Kong's SFC has approved spot Bitcoin and Ether ETFs (combined AUM &gt;$5B by Q4 2024) — the only major Asian centre with retail VA ETFs. The May 2025 Stablecoins Ordinance is live, and the HKMA has licensed Standard Chartered and HSBC for stablecoin issuance, making Hong Kong the dominant Asia stablecoin venue. We win against Hong Kong on three vectors: regulatory clarity (one consolidated framework vs HK's SFC + HKMA + stablecoin split), tax efficiency for non-Asian capital, and access to GCC / MENA institutional flow. Retail access and spot ETFs are a follow-on, not the lead play.</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60F1D"/>
        </a:solidFill>
      </p:bgPr>
    </p:bg>
    <p:spTree>
      <p:nvGrpSpPr>
        <p:cNvPr id="1" name=""/>
        <p:cNvGrpSpPr/>
        <p:nvPr/>
      </p:nvGrpSpPr>
      <p:grpSpPr>
        <a:xfrm>
          <a:off x="0" y="0"/>
          <a:ext cx="0" cy="0"/>
          <a:chOff x="0" y="0"/>
          <a:chExt cx="0" cy="0"/>
        </a:xfrm>
      </p:grpSpPr>
      <p:sp>
        <p:nvSpPr>
          <p:cNvPr id="2" name="Shape 0"/>
          <p:cNvSpPr/>
          <p:nvPr/>
        </p:nvSpPr>
        <p:spPr>
          <a:xfrm>
            <a:off x="0" y="0"/>
            <a:ext cx="12192000" cy="36576"/>
          </a:xfrm>
          <a:prstGeom prst="rect">
            <a:avLst/>
          </a:prstGeom>
          <a:solidFill>
            <a:srgbClr val="3B82F6"/>
          </a:solidFill>
          <a:ln/>
        </p:spPr>
      </p:sp>
      <p:sp>
        <p:nvSpPr>
          <p:cNvPr id="3" name="Text 1"/>
          <p:cNvSpPr/>
          <p:nvPr/>
        </p:nvSpPr>
        <p:spPr>
          <a:xfrm>
            <a:off x="731520" y="320040"/>
            <a:ext cx="3657600" cy="320040"/>
          </a:xfrm>
          <a:prstGeom prst="rect">
            <a:avLst/>
          </a:prstGeom>
          <a:noFill/>
          <a:ln/>
        </p:spPr>
        <p:txBody>
          <a:bodyPr wrap="square" rtlCol="0" anchor="ctr"/>
          <a:lstStyle/>
          <a:p>
            <a:pPr indent="0" marL="0">
              <a:buNone/>
            </a:pPr>
            <a:r>
              <a:rPr lang="en-US" sz="1000" b="1" spc="200" kern="0" dirty="0">
                <a:solidFill>
                  <a:srgbClr val="3B82F6"/>
                </a:solidFill>
                <a:latin typeface="Helvetica Neue" pitchFamily="34" charset="0"/>
                <a:ea typeface="Helvetica Neue" pitchFamily="34" charset="-122"/>
                <a:cs typeface="Helvetica Neue" pitchFamily="34" charset="-120"/>
              </a:rPr>
              <a:t>SECTION 6</a:t>
            </a:r>
            <a:endParaRPr lang="en-US" sz="1000" dirty="0"/>
          </a:p>
        </p:txBody>
      </p:sp>
      <p:sp>
        <p:nvSpPr>
          <p:cNvPr id="4" name="Text 2"/>
          <p:cNvSpPr/>
          <p:nvPr/>
        </p:nvSpPr>
        <p:spPr>
          <a:xfrm>
            <a:off x="731520" y="685800"/>
            <a:ext cx="7680960" cy="548640"/>
          </a:xfrm>
          <a:prstGeom prst="rect">
            <a:avLst/>
          </a:prstGeom>
          <a:noFill/>
          <a:ln/>
        </p:spPr>
        <p:txBody>
          <a:bodyPr wrap="square" rtlCol="0" anchor="ctr"/>
          <a:lstStyle/>
          <a:p>
            <a:pPr indent="0" marL="0">
              <a:buNone/>
            </a:pPr>
            <a:r>
              <a:rPr lang="en-US" sz="2200" b="1" dirty="0">
                <a:solidFill>
                  <a:srgbClr val="FFFFFF"/>
                </a:solidFill>
                <a:latin typeface="Helvetica Neue" pitchFamily="34" charset="0"/>
                <a:ea typeface="Helvetica Neue" pitchFamily="34" charset="-122"/>
                <a:cs typeface="Helvetica Neue" pitchFamily="34" charset="-120"/>
              </a:rPr>
              <a:t>Complication — ADGM and the GCC Coordination Risk</a:t>
            </a:r>
            <a:endParaRPr lang="en-US" sz="2200" dirty="0"/>
          </a:p>
        </p:txBody>
      </p:sp>
      <p:sp>
        <p:nvSpPr>
          <p:cNvPr id="5" name="Text 3"/>
          <p:cNvSpPr/>
          <p:nvPr/>
        </p:nvSpPr>
        <p:spPr>
          <a:xfrm>
            <a:off x="731520" y="1371600"/>
            <a:ext cx="7680960" cy="3474720"/>
          </a:xfrm>
          <a:prstGeom prst="rect">
            <a:avLst/>
          </a:prstGeom>
          <a:noFill/>
          <a:ln/>
        </p:spPr>
        <p:txBody>
          <a:bodyPr wrap="square" rtlCol="0" anchor="t"/>
          <a:lstStyle/>
          <a:p>
            <a:pPr indent="0" marL="0">
              <a:lnSpc>
                <a:spcPct val="140000"/>
              </a:lnSpc>
              <a:spcAft>
                <a:spcPts val="800"/>
              </a:spcAft>
              <a:buNone/>
            </a:pPr>
            <a:r>
              <a:rPr lang="en-US" sz="1300" dirty="0">
                <a:solidFill>
                  <a:srgbClr val="E2E8F0"/>
                </a:solidFill>
                <a:latin typeface="Helvetica Neue" pitchFamily="34" charset="0"/>
                <a:ea typeface="Helvetica Neue" pitchFamily="34" charset="-122"/>
                <a:cs typeface="Helvetica Neue" pitchFamily="34" charset="-120"/>
              </a:rPr>
              <a:t>ADGM's 2018-first MENA VA framework, Q1 2026 AUM growth of 57%, and the RegLab FinTech sandbox make ADGM the institutional and sovereign-capital counterpart to DIFC. In a strategically significant move, ADGM, DIFC and QFC signed reciprocal data-protection adequacy recognition in June 2026 — the GCC centres are coordinating, and we risk exclusion if we do not move into a co-design posture. We win against ADGM on the scale of our existing client base (2,847 vs. ADGM's 13,000+ active licences but smaller AUM per licence) and on Asia-Pac connectivity — co-designing a tokenisation sandbox with MAS to plug into Project Guardian-style institutional rails.</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60F1D"/>
        </a:solidFill>
      </p:bgPr>
    </p:bg>
    <p:spTree>
      <p:nvGrpSpPr>
        <p:cNvPr id="1" name=""/>
        <p:cNvGrpSpPr/>
        <p:nvPr/>
      </p:nvGrpSpPr>
      <p:grpSpPr>
        <a:xfrm>
          <a:off x="0" y="0"/>
          <a:ext cx="0" cy="0"/>
          <a:chOff x="0" y="0"/>
          <a:chExt cx="0" cy="0"/>
        </a:xfrm>
      </p:grpSpPr>
      <p:sp>
        <p:nvSpPr>
          <p:cNvPr id="2" name="Shape 0"/>
          <p:cNvSpPr/>
          <p:nvPr/>
        </p:nvSpPr>
        <p:spPr>
          <a:xfrm>
            <a:off x="0" y="0"/>
            <a:ext cx="12192000" cy="36576"/>
          </a:xfrm>
          <a:prstGeom prst="rect">
            <a:avLst/>
          </a:prstGeom>
          <a:solidFill>
            <a:srgbClr val="3B82F6"/>
          </a:solidFill>
          <a:ln/>
        </p:spPr>
      </p:sp>
      <p:sp>
        <p:nvSpPr>
          <p:cNvPr id="3" name="Text 1"/>
          <p:cNvSpPr/>
          <p:nvPr/>
        </p:nvSpPr>
        <p:spPr>
          <a:xfrm>
            <a:off x="731520" y="320040"/>
            <a:ext cx="3657600" cy="320040"/>
          </a:xfrm>
          <a:prstGeom prst="rect">
            <a:avLst/>
          </a:prstGeom>
          <a:noFill/>
          <a:ln/>
        </p:spPr>
        <p:txBody>
          <a:bodyPr wrap="square" rtlCol="0" anchor="ctr"/>
          <a:lstStyle/>
          <a:p>
            <a:pPr indent="0" marL="0">
              <a:buNone/>
            </a:pPr>
            <a:r>
              <a:rPr lang="en-US" sz="1000" b="1" spc="200" kern="0" dirty="0">
                <a:solidFill>
                  <a:srgbClr val="3B82F6"/>
                </a:solidFill>
                <a:latin typeface="Helvetica Neue" pitchFamily="34" charset="0"/>
                <a:ea typeface="Helvetica Neue" pitchFamily="34" charset="-122"/>
                <a:cs typeface="Helvetica Neue" pitchFamily="34" charset="-120"/>
              </a:rPr>
              <a:t>SECTION 7</a:t>
            </a:r>
            <a:endParaRPr lang="en-US" sz="1000" dirty="0"/>
          </a:p>
        </p:txBody>
      </p:sp>
      <p:sp>
        <p:nvSpPr>
          <p:cNvPr id="4" name="Text 2"/>
          <p:cNvSpPr/>
          <p:nvPr/>
        </p:nvSpPr>
        <p:spPr>
          <a:xfrm>
            <a:off x="731520" y="685800"/>
            <a:ext cx="7680960" cy="548640"/>
          </a:xfrm>
          <a:prstGeom prst="rect">
            <a:avLst/>
          </a:prstGeom>
          <a:noFill/>
          <a:ln/>
        </p:spPr>
        <p:txBody>
          <a:bodyPr wrap="square" rtlCol="0" anchor="ctr"/>
          <a:lstStyle/>
          <a:p>
            <a:pPr indent="0" marL="0">
              <a:buNone/>
            </a:pPr>
            <a:r>
              <a:rPr lang="en-US" sz="2200" b="1" dirty="0">
                <a:solidFill>
                  <a:srgbClr val="FFFFFF"/>
                </a:solidFill>
                <a:latin typeface="Helvetica Neue" pitchFamily="34" charset="0"/>
                <a:ea typeface="Helvetica Neue" pitchFamily="34" charset="-122"/>
                <a:cs typeface="Helvetica Neue" pitchFamily="34" charset="-120"/>
              </a:rPr>
              <a:t>Complication — Three Regulatory Arbitrage Windows Are Closing Now</a:t>
            </a:r>
            <a:endParaRPr lang="en-US" sz="2200" dirty="0"/>
          </a:p>
        </p:txBody>
      </p:sp>
      <p:sp>
        <p:nvSpPr>
          <p:cNvPr id="5" name="Text 3"/>
          <p:cNvSpPr/>
          <p:nvPr/>
        </p:nvSpPr>
        <p:spPr>
          <a:xfrm>
            <a:off x="731520" y="1371600"/>
            <a:ext cx="7680960" cy="3474720"/>
          </a:xfrm>
          <a:prstGeom prst="rect">
            <a:avLst/>
          </a:prstGeom>
          <a:noFill/>
          <a:ln/>
        </p:spPr>
        <p:txBody>
          <a:bodyPr wrap="square" rtlCol="0" anchor="t"/>
          <a:lstStyle/>
          <a:p>
            <a:pPr indent="0" marL="0">
              <a:lnSpc>
                <a:spcPct val="140000"/>
              </a:lnSpc>
              <a:spcAft>
                <a:spcPts val="800"/>
              </a:spcAft>
              <a:buNone/>
            </a:pPr>
            <a:r>
              <a:rPr lang="en-US" sz="1300" dirty="0">
                <a:solidFill>
                  <a:srgbClr val="E2E8F0"/>
                </a:solidFill>
                <a:latin typeface="Helvetica Neue" pitchFamily="34" charset="0"/>
                <a:ea typeface="Helvetica Neue" pitchFamily="34" charset="-122"/>
                <a:cs typeface="Helvetica Neue" pitchFamily="34" charset="-120"/>
              </a:rPr>
              <a:t>Three arbitrage windows are open and time-limited. First, the narrowed MiCA reverse-solicitation carve-out is pushing non-EU firms to seek a MiCA-equivalent CASP authorisation — a 12–18 month window. Second, the FCA is accepting pre-commencement applications ahead of the 25 Oct 2027 FSMA-crypto commencement — a 6–12 month window. Third, stablecoin issuer licensing is now operational in only ~5 jurisdictions globally — Hong Kong, Singapore, EU/MiCA, UK, and the UAE — and is the single most strategic 2026 decision a financial centre can make. Substantive convergence on product/conduct rules is now quasi-international, but structural divergence on licensing topology and DeFi treatment is durable for 24–36 months. The window to design a differentiated, defensible framework is now.</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60F1D"/>
        </a:solidFill>
      </p:bgPr>
    </p:bg>
    <p:spTree>
      <p:nvGrpSpPr>
        <p:cNvPr id="1" name=""/>
        <p:cNvGrpSpPr/>
        <p:nvPr/>
      </p:nvGrpSpPr>
      <p:grpSpPr>
        <a:xfrm>
          <a:off x="0" y="0"/>
          <a:ext cx="0" cy="0"/>
          <a:chOff x="0" y="0"/>
          <a:chExt cx="0" cy="0"/>
        </a:xfrm>
      </p:grpSpPr>
      <p:sp>
        <p:nvSpPr>
          <p:cNvPr id="2" name="Shape 0"/>
          <p:cNvSpPr/>
          <p:nvPr/>
        </p:nvSpPr>
        <p:spPr>
          <a:xfrm>
            <a:off x="0" y="0"/>
            <a:ext cx="12192000" cy="36576"/>
          </a:xfrm>
          <a:prstGeom prst="rect">
            <a:avLst/>
          </a:prstGeom>
          <a:solidFill>
            <a:srgbClr val="3B82F6"/>
          </a:solidFill>
          <a:ln/>
        </p:spPr>
      </p:sp>
      <p:sp>
        <p:nvSpPr>
          <p:cNvPr id="3" name="Text 1"/>
          <p:cNvSpPr/>
          <p:nvPr/>
        </p:nvSpPr>
        <p:spPr>
          <a:xfrm>
            <a:off x="731520" y="320040"/>
            <a:ext cx="3657600" cy="320040"/>
          </a:xfrm>
          <a:prstGeom prst="rect">
            <a:avLst/>
          </a:prstGeom>
          <a:noFill/>
          <a:ln/>
        </p:spPr>
        <p:txBody>
          <a:bodyPr wrap="square" rtlCol="0" anchor="ctr"/>
          <a:lstStyle/>
          <a:p>
            <a:pPr indent="0" marL="0">
              <a:buNone/>
            </a:pPr>
            <a:r>
              <a:rPr lang="en-US" sz="1000" b="1" spc="200" kern="0" dirty="0">
                <a:solidFill>
                  <a:srgbClr val="3B82F6"/>
                </a:solidFill>
                <a:latin typeface="Helvetica Neue" pitchFamily="34" charset="0"/>
                <a:ea typeface="Helvetica Neue" pitchFamily="34" charset="-122"/>
                <a:cs typeface="Helvetica Neue" pitchFamily="34" charset="-120"/>
              </a:rPr>
              <a:t>SECTION 8</a:t>
            </a:r>
            <a:endParaRPr lang="en-US" sz="1000" dirty="0"/>
          </a:p>
        </p:txBody>
      </p:sp>
      <p:sp>
        <p:nvSpPr>
          <p:cNvPr id="4" name="Text 2"/>
          <p:cNvSpPr/>
          <p:nvPr/>
        </p:nvSpPr>
        <p:spPr>
          <a:xfrm>
            <a:off x="731520" y="685800"/>
            <a:ext cx="7680960" cy="548640"/>
          </a:xfrm>
          <a:prstGeom prst="rect">
            <a:avLst/>
          </a:prstGeom>
          <a:noFill/>
          <a:ln/>
        </p:spPr>
        <p:txBody>
          <a:bodyPr wrap="square" rtlCol="0" anchor="ctr"/>
          <a:lstStyle/>
          <a:p>
            <a:pPr indent="0" marL="0">
              <a:buNone/>
            </a:pPr>
            <a:r>
              <a:rPr lang="en-US" sz="2200" b="1" dirty="0">
                <a:solidFill>
                  <a:srgbClr val="FFFFFF"/>
                </a:solidFill>
                <a:latin typeface="Helvetica Neue" pitchFamily="34" charset="0"/>
                <a:ea typeface="Helvetica Neue" pitchFamily="34" charset="-122"/>
                <a:cs typeface="Helvetica Neue" pitchFamily="34" charset="-120"/>
              </a:rPr>
              <a:t>Resolution — Three Strategic Bets</a:t>
            </a:r>
            <a:endParaRPr lang="en-US" sz="2200" dirty="0"/>
          </a:p>
        </p:txBody>
      </p:sp>
      <p:sp>
        <p:nvSpPr>
          <p:cNvPr id="5" name="Text 3"/>
          <p:cNvSpPr/>
          <p:nvPr/>
        </p:nvSpPr>
        <p:spPr>
          <a:xfrm>
            <a:off x="731520" y="1371600"/>
            <a:ext cx="7680960" cy="3474720"/>
          </a:xfrm>
          <a:prstGeom prst="rect">
            <a:avLst/>
          </a:prstGeom>
          <a:noFill/>
          <a:ln/>
        </p:spPr>
        <p:txBody>
          <a:bodyPr wrap="square" rtlCol="0" anchor="t"/>
          <a:lstStyle/>
          <a:p>
            <a:pPr indent="0" marL="0">
              <a:lnSpc>
                <a:spcPct val="140000"/>
              </a:lnSpc>
              <a:spcAft>
                <a:spcPts val="800"/>
              </a:spcAft>
              <a:buNone/>
            </a:pPr>
            <a:r>
              <a:rPr lang="en-US" sz="1300" dirty="0">
                <a:solidFill>
                  <a:srgbClr val="E2E8F0"/>
                </a:solidFill>
                <a:latin typeface="Helvetica Neue" pitchFamily="34" charset="0"/>
                <a:ea typeface="Helvetica Neue" pitchFamily="34" charset="-122"/>
                <a:cs typeface="Helvetica Neue" pitchFamily="34" charset="-120"/>
              </a:rPr>
              <a:t>Three bets, sequenced for 12-month execution. Bet 1: become the regional tokenisation hub for sovereign and corporate debt, funds, and money-market instruments — publish a regulated primary-issuance and secondary-trading venue, targeting 25+ tokenisation issuers by end-2027 (current: 7). Bet 2: set the regional standard for qualified, audited, segregated digital asset custody with bankruptcy-remoteness — custody, collateral mobilisation, and 24/7 instant-settlement tokenised MMF (the BlackRock BUIDL / StanChart / OKX template) become the centre's highest-margin, stickiest layer. Bet 3: stand up a stablecoin and payments-rails regime within 12 months — either issue, license, or both — paired with at least one global card-network or payments-rail partnership to capture transaction volume on our natural cross-border corridors.</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60F1D"/>
        </a:solidFill>
      </p:bgPr>
    </p:bg>
    <p:spTree>
      <p:nvGrpSpPr>
        <p:cNvPr id="1" name=""/>
        <p:cNvGrpSpPr/>
        <p:nvPr/>
      </p:nvGrpSpPr>
      <p:grpSpPr>
        <a:xfrm>
          <a:off x="0" y="0"/>
          <a:ext cx="0" cy="0"/>
          <a:chOff x="0" y="0"/>
          <a:chExt cx="0" cy="0"/>
        </a:xfrm>
      </p:grpSpPr>
      <p:sp>
        <p:nvSpPr>
          <p:cNvPr id="2" name="Shape 0"/>
          <p:cNvSpPr/>
          <p:nvPr/>
        </p:nvSpPr>
        <p:spPr>
          <a:xfrm>
            <a:off x="0" y="0"/>
            <a:ext cx="12192000" cy="36576"/>
          </a:xfrm>
          <a:prstGeom prst="rect">
            <a:avLst/>
          </a:prstGeom>
          <a:solidFill>
            <a:srgbClr val="3B82F6"/>
          </a:solidFill>
          <a:ln/>
        </p:spPr>
      </p:sp>
      <p:sp>
        <p:nvSpPr>
          <p:cNvPr id="3" name="Text 1"/>
          <p:cNvSpPr/>
          <p:nvPr/>
        </p:nvSpPr>
        <p:spPr>
          <a:xfrm>
            <a:off x="731520" y="320040"/>
            <a:ext cx="3657600" cy="320040"/>
          </a:xfrm>
          <a:prstGeom prst="rect">
            <a:avLst/>
          </a:prstGeom>
          <a:noFill/>
          <a:ln/>
        </p:spPr>
        <p:txBody>
          <a:bodyPr wrap="square" rtlCol="0" anchor="ctr"/>
          <a:lstStyle/>
          <a:p>
            <a:pPr indent="0" marL="0">
              <a:buNone/>
            </a:pPr>
            <a:r>
              <a:rPr lang="en-US" sz="1000" b="1" spc="200" kern="0" dirty="0">
                <a:solidFill>
                  <a:srgbClr val="3B82F6"/>
                </a:solidFill>
                <a:latin typeface="Helvetica Neue" pitchFamily="34" charset="0"/>
                <a:ea typeface="Helvetica Neue" pitchFamily="34" charset="-122"/>
                <a:cs typeface="Helvetica Neue" pitchFamily="34" charset="-120"/>
              </a:rPr>
              <a:t>SECTION 9</a:t>
            </a:r>
            <a:endParaRPr lang="en-US" sz="1000" dirty="0"/>
          </a:p>
        </p:txBody>
      </p:sp>
      <p:sp>
        <p:nvSpPr>
          <p:cNvPr id="4" name="Text 2"/>
          <p:cNvSpPr/>
          <p:nvPr/>
        </p:nvSpPr>
        <p:spPr>
          <a:xfrm>
            <a:off x="731520" y="685800"/>
            <a:ext cx="7680960" cy="548640"/>
          </a:xfrm>
          <a:prstGeom prst="rect">
            <a:avLst/>
          </a:prstGeom>
          <a:noFill/>
          <a:ln/>
        </p:spPr>
        <p:txBody>
          <a:bodyPr wrap="square" rtlCol="0" anchor="ctr"/>
          <a:lstStyle/>
          <a:p>
            <a:pPr indent="0" marL="0">
              <a:buNone/>
            </a:pPr>
            <a:r>
              <a:rPr lang="en-US" sz="2200" b="1" dirty="0">
                <a:solidFill>
                  <a:srgbClr val="FFFFFF"/>
                </a:solidFill>
                <a:latin typeface="Helvetica Neue" pitchFamily="34" charset="0"/>
                <a:ea typeface="Helvetica Neue" pitchFamily="34" charset="-122"/>
                <a:cs typeface="Helvetica Neue" pitchFamily="34" charset="-120"/>
              </a:rPr>
              <a:t>Resolution — Framework Design: Differentiated, Defensible, Future-Proof</a:t>
            </a:r>
            <a:endParaRPr lang="en-US" sz="2200" dirty="0"/>
          </a:p>
        </p:txBody>
      </p:sp>
      <p:sp>
        <p:nvSpPr>
          <p:cNvPr id="5" name="Text 3"/>
          <p:cNvSpPr/>
          <p:nvPr/>
        </p:nvSpPr>
        <p:spPr>
          <a:xfrm>
            <a:off x="731520" y="1371600"/>
            <a:ext cx="7680960" cy="3474720"/>
          </a:xfrm>
          <a:prstGeom prst="rect">
            <a:avLst/>
          </a:prstGeom>
          <a:noFill/>
          <a:ln/>
        </p:spPr>
        <p:txBody>
          <a:bodyPr wrap="square" rtlCol="0" anchor="t"/>
          <a:lstStyle/>
          <a:p>
            <a:pPr indent="0" marL="0">
              <a:lnSpc>
                <a:spcPct val="140000"/>
              </a:lnSpc>
              <a:spcAft>
                <a:spcPts val="800"/>
              </a:spcAft>
              <a:buNone/>
            </a:pPr>
            <a:r>
              <a:rPr lang="en-US" sz="1300" dirty="0">
                <a:solidFill>
                  <a:srgbClr val="E2E8F0"/>
                </a:solidFill>
                <a:latin typeface="Helvetica Neue" pitchFamily="34" charset="0"/>
                <a:ea typeface="Helvetica Neue" pitchFamily="34" charset="-122"/>
                <a:cs typeface="Helvetica Neue" pitchFamily="34" charset="-120"/>
              </a:rPr>
              <a:t>The framework rests on five design pillars. (1) Tiered, activity-based licensing in 3 tiers — Advisory/Intermediation, Trading &amp; Exchange, Custody + Tokenisation — more flexible than MiCA's single CASP model and easier to amend. (2) Stablecoin regime that mirrors the 1:1 reserve, segregation, redemption-at-par, audit baseline, but differentiates on bank- vs. non-bank issuer thresholds, permitted reserves (allowing tokenised T-bills and MMFs), and cross-border recognition with HK SFC, MAS, FCA. (3) Custody standard: statutory trust, separate licensed custodian, daily on-chain attestation, staking/restaking risk coverage — visibly higher than DIFC/ADGM. (4) Tokenised fund regime depth to match UK PS26/7, MAS capital-markets tokenisation guide, and HK SFC ASPIRe. (5) DeFi / decentralised-network safe harbour — first mover in our region, attractive to builders displaced by US enforcement uncertainty pre-FIT21.</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60F1D"/>
        </a:solidFill>
      </p:bgPr>
    </p:bg>
    <p:spTree>
      <p:nvGrpSpPr>
        <p:cNvPr id="1" name=""/>
        <p:cNvGrpSpPr/>
        <p:nvPr/>
      </p:nvGrpSpPr>
      <p:grpSpPr>
        <a:xfrm>
          <a:off x="0" y="0"/>
          <a:ext cx="0" cy="0"/>
          <a:chOff x="0" y="0"/>
          <a:chExt cx="0" cy="0"/>
        </a:xfrm>
      </p:grpSpPr>
      <p:sp>
        <p:nvSpPr>
          <p:cNvPr id="2" name="Shape 0"/>
          <p:cNvSpPr/>
          <p:nvPr/>
        </p:nvSpPr>
        <p:spPr>
          <a:xfrm>
            <a:off x="0" y="0"/>
            <a:ext cx="12192000" cy="36576"/>
          </a:xfrm>
          <a:prstGeom prst="rect">
            <a:avLst/>
          </a:prstGeom>
          <a:solidFill>
            <a:srgbClr val="3B82F6"/>
          </a:solidFill>
          <a:ln/>
        </p:spPr>
      </p:sp>
      <p:sp>
        <p:nvSpPr>
          <p:cNvPr id="3" name="Text 1"/>
          <p:cNvSpPr/>
          <p:nvPr/>
        </p:nvSpPr>
        <p:spPr>
          <a:xfrm>
            <a:off x="731520" y="320040"/>
            <a:ext cx="3657600" cy="320040"/>
          </a:xfrm>
          <a:prstGeom prst="rect">
            <a:avLst/>
          </a:prstGeom>
          <a:noFill/>
          <a:ln/>
        </p:spPr>
        <p:txBody>
          <a:bodyPr wrap="square" rtlCol="0" anchor="ctr"/>
          <a:lstStyle/>
          <a:p>
            <a:pPr indent="0" marL="0">
              <a:buNone/>
            </a:pPr>
            <a:r>
              <a:rPr lang="en-US" sz="1000" b="1" spc="200" kern="0" dirty="0">
                <a:solidFill>
                  <a:srgbClr val="3B82F6"/>
                </a:solidFill>
                <a:latin typeface="Helvetica Neue" pitchFamily="34" charset="0"/>
                <a:ea typeface="Helvetica Neue" pitchFamily="34" charset="-122"/>
                <a:cs typeface="Helvetica Neue" pitchFamily="34" charset="-120"/>
              </a:rPr>
              <a:t>SECTION 10</a:t>
            </a:r>
            <a:endParaRPr lang="en-US" sz="1000" dirty="0"/>
          </a:p>
        </p:txBody>
      </p:sp>
      <p:sp>
        <p:nvSpPr>
          <p:cNvPr id="4" name="Text 2"/>
          <p:cNvSpPr/>
          <p:nvPr/>
        </p:nvSpPr>
        <p:spPr>
          <a:xfrm>
            <a:off x="731520" y="685800"/>
            <a:ext cx="7680960" cy="548640"/>
          </a:xfrm>
          <a:prstGeom prst="rect">
            <a:avLst/>
          </a:prstGeom>
          <a:noFill/>
          <a:ln/>
        </p:spPr>
        <p:txBody>
          <a:bodyPr wrap="square" rtlCol="0" anchor="ctr"/>
          <a:lstStyle/>
          <a:p>
            <a:pPr indent="0" marL="0">
              <a:buNone/>
            </a:pPr>
            <a:r>
              <a:rPr lang="en-US" sz="2200" b="1" dirty="0">
                <a:solidFill>
                  <a:srgbClr val="FFFFFF"/>
                </a:solidFill>
                <a:latin typeface="Helvetica Neue" pitchFamily="34" charset="0"/>
                <a:ea typeface="Helvetica Neue" pitchFamily="34" charset="-122"/>
                <a:cs typeface="Helvetica Neue" pitchFamily="34" charset="-120"/>
              </a:rPr>
              <a:t>Resolution — 12-Month Execution Roadmap</a:t>
            </a:r>
            <a:endParaRPr lang="en-US" sz="2200" dirty="0"/>
          </a:p>
        </p:txBody>
      </p:sp>
      <p:sp>
        <p:nvSpPr>
          <p:cNvPr id="5" name="Text 3"/>
          <p:cNvSpPr/>
          <p:nvPr/>
        </p:nvSpPr>
        <p:spPr>
          <a:xfrm>
            <a:off x="731520" y="1371600"/>
            <a:ext cx="7680960" cy="3474720"/>
          </a:xfrm>
          <a:prstGeom prst="rect">
            <a:avLst/>
          </a:prstGeom>
          <a:noFill/>
          <a:ln/>
        </p:spPr>
        <p:txBody>
          <a:bodyPr wrap="square" rtlCol="0" anchor="t"/>
          <a:lstStyle/>
          <a:p>
            <a:pPr indent="0" marL="0">
              <a:lnSpc>
                <a:spcPct val="140000"/>
              </a:lnSpc>
              <a:spcAft>
                <a:spcPts val="800"/>
              </a:spcAft>
              <a:buNone/>
            </a:pPr>
            <a:r>
              <a:rPr lang="en-US" sz="1300" dirty="0">
                <a:solidFill>
                  <a:srgbClr val="E2E8F0"/>
                </a:solidFill>
                <a:latin typeface="Helvetica Neue" pitchFamily="34" charset="0"/>
                <a:ea typeface="Helvetica Neue" pitchFamily="34" charset="-122"/>
                <a:cs typeface="Helvetica Neue" pitchFamily="34" charset="-120"/>
              </a:rPr>
              <a:t>Eight milestones, owners and dates confirmed. Q3 2026: publish refreshed Virtual Asset framework — must beat DIFC CP-2026-04 close. Q4 2026: stablecoin licensing regime live. Q1 2027: tokenised sovereign bond pilot + custody regime upgrade (statutory trust, daily attestation, staking risk rules). Q2 2027: bilateral supervisory MoUs with HK SFC, MAS, FCA + DeFi protocol safe-harbour consultation paper. Rolling: anchor-tenant outreach to 10 priority VA firms recently licensed in DIFC/ADGM/HK — first 3 by Q4 2026. Q4 2027: first tokenised fund share class issued by a Tier-1 global asset manager, domiciled in-centre. Programme expected to be self-funding within 24 months via licence fees, custody fees, and tokenised-fund admin margin.</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60F1D"/>
        </a:solidFill>
      </p:bgPr>
    </p:bg>
    <p:spTree>
      <p:nvGrpSpPr>
        <p:cNvPr id="1" name=""/>
        <p:cNvGrpSpPr/>
        <p:nvPr/>
      </p:nvGrpSpPr>
      <p:grpSpPr>
        <a:xfrm>
          <a:off x="0" y="0"/>
          <a:ext cx="0" cy="0"/>
          <a:chOff x="0" y="0"/>
          <a:chExt cx="0" cy="0"/>
        </a:xfrm>
      </p:grpSpPr>
      <p:sp>
        <p:nvSpPr>
          <p:cNvPr id="2" name="Shape 0"/>
          <p:cNvSpPr/>
          <p:nvPr/>
        </p:nvSpPr>
        <p:spPr>
          <a:xfrm>
            <a:off x="0" y="0"/>
            <a:ext cx="12192000" cy="36576"/>
          </a:xfrm>
          <a:prstGeom prst="rect">
            <a:avLst/>
          </a:prstGeom>
          <a:solidFill>
            <a:srgbClr val="3B82F6"/>
          </a:solidFill>
          <a:ln/>
        </p:spPr>
      </p:sp>
      <p:sp>
        <p:nvSpPr>
          <p:cNvPr id="3" name="Text 1"/>
          <p:cNvSpPr/>
          <p:nvPr/>
        </p:nvSpPr>
        <p:spPr>
          <a:xfrm>
            <a:off x="731520" y="320040"/>
            <a:ext cx="3657600" cy="320040"/>
          </a:xfrm>
          <a:prstGeom prst="rect">
            <a:avLst/>
          </a:prstGeom>
          <a:noFill/>
          <a:ln/>
        </p:spPr>
        <p:txBody>
          <a:bodyPr wrap="square" rtlCol="0" anchor="ctr"/>
          <a:lstStyle/>
          <a:p>
            <a:pPr indent="0" marL="0">
              <a:buNone/>
            </a:pPr>
            <a:r>
              <a:rPr lang="en-US" sz="1000" b="1" spc="200" kern="0" dirty="0">
                <a:solidFill>
                  <a:srgbClr val="3B82F6"/>
                </a:solidFill>
                <a:latin typeface="Helvetica Neue" pitchFamily="34" charset="0"/>
                <a:ea typeface="Helvetica Neue" pitchFamily="34" charset="-122"/>
                <a:cs typeface="Helvetica Neue" pitchFamily="34" charset="-120"/>
              </a:rPr>
              <a:t>SECTION 11</a:t>
            </a:r>
            <a:endParaRPr lang="en-US" sz="1000" dirty="0"/>
          </a:p>
        </p:txBody>
      </p:sp>
      <p:sp>
        <p:nvSpPr>
          <p:cNvPr id="4" name="Text 2"/>
          <p:cNvSpPr/>
          <p:nvPr/>
        </p:nvSpPr>
        <p:spPr>
          <a:xfrm>
            <a:off x="731520" y="685800"/>
            <a:ext cx="7680960" cy="548640"/>
          </a:xfrm>
          <a:prstGeom prst="rect">
            <a:avLst/>
          </a:prstGeom>
          <a:noFill/>
          <a:ln/>
        </p:spPr>
        <p:txBody>
          <a:bodyPr wrap="square" rtlCol="0" anchor="ctr"/>
          <a:lstStyle/>
          <a:p>
            <a:pPr indent="0" marL="0">
              <a:buNone/>
            </a:pPr>
            <a:r>
              <a:rPr lang="en-US" sz="2200" b="1" dirty="0">
                <a:solidFill>
                  <a:srgbClr val="FFFFFF"/>
                </a:solidFill>
                <a:latin typeface="Helvetica Neue" pitchFamily="34" charset="0"/>
                <a:ea typeface="Helvetica Neue" pitchFamily="34" charset="-122"/>
                <a:cs typeface="Helvetica Neue" pitchFamily="34" charset="-120"/>
              </a:rPr>
              <a:t>Resolution — Asks of the Board</a:t>
            </a:r>
            <a:endParaRPr lang="en-US" sz="2200" dirty="0"/>
          </a:p>
        </p:txBody>
      </p:sp>
      <p:sp>
        <p:nvSpPr>
          <p:cNvPr id="5" name="Text 3"/>
          <p:cNvSpPr/>
          <p:nvPr/>
        </p:nvSpPr>
        <p:spPr>
          <a:xfrm>
            <a:off x="731520" y="1371600"/>
            <a:ext cx="7680960" cy="3474720"/>
          </a:xfrm>
          <a:prstGeom prst="rect">
            <a:avLst/>
          </a:prstGeom>
          <a:noFill/>
          <a:ln/>
        </p:spPr>
        <p:txBody>
          <a:bodyPr wrap="square" rtlCol="0" anchor="t"/>
          <a:lstStyle/>
          <a:p>
            <a:pPr indent="0" marL="0">
              <a:lnSpc>
                <a:spcPct val="140000"/>
              </a:lnSpc>
              <a:spcAft>
                <a:spcPts val="800"/>
              </a:spcAft>
              <a:buNone/>
            </a:pPr>
            <a:r>
              <a:rPr lang="en-US" sz="1300" dirty="0">
                <a:solidFill>
                  <a:srgbClr val="E2E8F0"/>
                </a:solidFill>
                <a:latin typeface="Helvetica Neue" pitchFamily="34" charset="0"/>
                <a:ea typeface="Helvetica Neue" pitchFamily="34" charset="-122"/>
                <a:cs typeface="Helvetica Neue" pitchFamily="34" charset="-120"/>
              </a:rPr>
              <a:t>We ask the Board to take five decisions today. (1) Reaffirm Resolution 2026-Q1-03 — accelerated Q3 2026 publication of the refreshed Virtual Asset framework, ahead of DIFC's CP-2026-04 close. (2) Approve the stablecoin regime as a 2026 workstream, not a 2027 deferred item. (3) Endorse the 3-tier licensing model as the design basis for the regulatory drafting team. (4) Authorise bilateral MoU discussions with HK SFC, MAS, and FCA. (5) Approve the 8–12 FTE uplift in the Q2 2026 budget cycle, with the Digital Assets P&amp;L ring-fenced and reported quarterly to the Board. The closing principle: move first on tokenisation, win the Asia-Pac fund re-domicile wave, and make digital assets a destination category — not an add-on.</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60F1D"/>
        </a:solidFill>
      </p:bgPr>
    </p:bg>
    <p:spTree>
      <p:nvGrpSpPr>
        <p:cNvPr id="1" name=""/>
        <p:cNvGrpSpPr/>
        <p:nvPr/>
      </p:nvGrpSpPr>
      <p:grpSpPr>
        <a:xfrm>
          <a:off x="0" y="0"/>
          <a:ext cx="0" cy="0"/>
          <a:chOff x="0" y="0"/>
          <a:chExt cx="0" cy="0"/>
        </a:xfrm>
      </p:grpSpPr>
      <p:sp>
        <p:nvSpPr>
          <p:cNvPr id="2" name="Text 0"/>
          <p:cNvSpPr/>
          <p:nvPr/>
        </p:nvSpPr>
        <p:spPr>
          <a:xfrm>
            <a:off x="731520" y="320040"/>
            <a:ext cx="3657600" cy="320040"/>
          </a:xfrm>
          <a:prstGeom prst="rect">
            <a:avLst/>
          </a:prstGeom>
          <a:noFill/>
          <a:ln/>
        </p:spPr>
        <p:txBody>
          <a:bodyPr wrap="square" rtlCol="0" anchor="ctr"/>
          <a:lstStyle/>
          <a:p>
            <a:pPr indent="0" marL="0">
              <a:buNone/>
            </a:pPr>
            <a:r>
              <a:rPr lang="en-US" sz="1000" b="1" spc="200" kern="0" dirty="0">
                <a:solidFill>
                  <a:srgbClr val="3B82F6"/>
                </a:solidFill>
                <a:latin typeface="Helvetica Neue" pitchFamily="34" charset="0"/>
                <a:ea typeface="Helvetica Neue" pitchFamily="34" charset="-122"/>
                <a:cs typeface="Helvetica Neue" pitchFamily="34" charset="-120"/>
              </a:rPr>
              <a:t>KEY FINDINGS</a:t>
            </a:r>
            <a:endParaRPr lang="en-US" sz="1000" dirty="0"/>
          </a:p>
        </p:txBody>
      </p:sp>
      <p:sp>
        <p:nvSpPr>
          <p:cNvPr id="3" name="Text 1"/>
          <p:cNvSpPr/>
          <p:nvPr/>
        </p:nvSpPr>
        <p:spPr>
          <a:xfrm>
            <a:off x="731520" y="685800"/>
            <a:ext cx="7680960" cy="457200"/>
          </a:xfrm>
          <a:prstGeom prst="rect">
            <a:avLst/>
          </a:prstGeom>
          <a:noFill/>
          <a:ln/>
        </p:spPr>
        <p:txBody>
          <a:bodyPr wrap="square" rtlCol="0" anchor="ctr"/>
          <a:lstStyle/>
          <a:p>
            <a:pPr indent="0" marL="0">
              <a:buNone/>
            </a:pPr>
            <a:r>
              <a:rPr lang="en-US" sz="2200" b="1" dirty="0">
                <a:solidFill>
                  <a:srgbClr val="FFFFFF"/>
                </a:solidFill>
                <a:latin typeface="Helvetica Neue" pitchFamily="34" charset="0"/>
                <a:ea typeface="Helvetica Neue" pitchFamily="34" charset="-122"/>
                <a:cs typeface="Helvetica Neue" pitchFamily="34" charset="-120"/>
              </a:rPr>
              <a:t>Strategic Assessment Summary</a:t>
            </a:r>
            <a:endParaRPr lang="en-US" sz="2200" dirty="0"/>
          </a:p>
        </p:txBody>
      </p:sp>
      <p:sp>
        <p:nvSpPr>
          <p:cNvPr id="4" name="Shape 2"/>
          <p:cNvSpPr/>
          <p:nvPr/>
        </p:nvSpPr>
        <p:spPr>
          <a:xfrm>
            <a:off x="731520" y="1371600"/>
            <a:ext cx="2423160" cy="2926080"/>
          </a:xfrm>
          <a:prstGeom prst="rect">
            <a:avLst>
              <a:gd name="adj" fmla="val 3019"/>
            </a:avLst>
          </a:prstGeom>
          <a:solidFill>
            <a:srgbClr val="111B2E"/>
          </a:solidFill>
          <a:ln/>
        </p:spPr>
      </p:sp>
      <p:sp>
        <p:nvSpPr>
          <p:cNvPr id="5" name="Shape 3"/>
          <p:cNvSpPr/>
          <p:nvPr/>
        </p:nvSpPr>
        <p:spPr>
          <a:xfrm>
            <a:off x="731520" y="1371600"/>
            <a:ext cx="2423160" cy="36576"/>
          </a:xfrm>
          <a:prstGeom prst="rect">
            <a:avLst/>
          </a:prstGeom>
          <a:solidFill>
            <a:srgbClr val="3B82F6"/>
          </a:solidFill>
          <a:ln/>
        </p:spPr>
      </p:sp>
      <p:sp>
        <p:nvSpPr>
          <p:cNvPr id="6" name="Text 4"/>
          <p:cNvSpPr/>
          <p:nvPr/>
        </p:nvSpPr>
        <p:spPr>
          <a:xfrm>
            <a:off x="914400" y="1554480"/>
            <a:ext cx="457200" cy="365760"/>
          </a:xfrm>
          <a:prstGeom prst="rect">
            <a:avLst/>
          </a:prstGeom>
          <a:noFill/>
          <a:ln/>
        </p:spPr>
        <p:txBody>
          <a:bodyPr wrap="square" rtlCol="0" anchor="ctr"/>
          <a:lstStyle/>
          <a:p>
            <a:pPr indent="0" marL="0">
              <a:buNone/>
            </a:pPr>
            <a:r>
              <a:rPr lang="en-US" sz="2000" b="1" dirty="0">
                <a:solidFill>
                  <a:srgbClr val="3B82F6"/>
                </a:solidFill>
                <a:latin typeface="Courier New" pitchFamily="34" charset="0"/>
                <a:ea typeface="Courier New" pitchFamily="34" charset="-122"/>
                <a:cs typeface="Courier New" pitchFamily="34" charset="-120"/>
              </a:rPr>
              <a:t>01</a:t>
            </a:r>
            <a:endParaRPr lang="en-US" sz="2000" dirty="0"/>
          </a:p>
        </p:txBody>
      </p:sp>
      <p:sp>
        <p:nvSpPr>
          <p:cNvPr id="7" name="Text 5"/>
          <p:cNvSpPr/>
          <p:nvPr/>
        </p:nvSpPr>
        <p:spPr>
          <a:xfrm>
            <a:off x="914400" y="1965960"/>
            <a:ext cx="2057400" cy="457200"/>
          </a:xfrm>
          <a:prstGeom prst="rect">
            <a:avLst/>
          </a:prstGeom>
          <a:noFill/>
          <a:ln/>
        </p:spPr>
        <p:txBody>
          <a:bodyPr wrap="square" rtlCol="0" anchor="ctr"/>
          <a:lstStyle/>
          <a:p>
            <a:pPr indent="0" marL="0">
              <a:buNone/>
            </a:pPr>
            <a:r>
              <a:rPr lang="en-US" sz="1400" b="1" dirty="0">
                <a:solidFill>
                  <a:srgbClr val="FFFFFF"/>
                </a:solidFill>
                <a:latin typeface="Helvetica Neue" pitchFamily="34" charset="0"/>
                <a:ea typeface="Helvetica Neue" pitchFamily="34" charset="-122"/>
                <a:cs typeface="Helvetica Neue" pitchFamily="34" charset="-120"/>
              </a:rPr>
              <a:t>First-mover window: 12–18 months</a:t>
            </a:r>
            <a:endParaRPr lang="en-US" sz="1400" dirty="0"/>
          </a:p>
        </p:txBody>
      </p:sp>
      <p:sp>
        <p:nvSpPr>
          <p:cNvPr id="8" name="Text 6"/>
          <p:cNvSpPr/>
          <p:nvPr/>
        </p:nvSpPr>
        <p:spPr>
          <a:xfrm>
            <a:off x="914400" y="2468880"/>
            <a:ext cx="2057400" cy="1645920"/>
          </a:xfrm>
          <a:prstGeom prst="rect">
            <a:avLst/>
          </a:prstGeom>
          <a:noFill/>
          <a:ln/>
        </p:spPr>
        <p:txBody>
          <a:bodyPr wrap="square" rtlCol="0" anchor="t"/>
          <a:lstStyle/>
          <a:p>
            <a:pPr indent="0" marL="0">
              <a:lnSpc>
                <a:spcPct val="135000"/>
              </a:lnSpc>
              <a:buNone/>
            </a:pPr>
            <a:r>
              <a:rPr lang="en-US" sz="1100" dirty="0">
                <a:solidFill>
                  <a:srgbClr val="94A3B8"/>
                </a:solidFill>
                <a:latin typeface="Helvetica Neue" pitchFamily="34" charset="0"/>
                <a:ea typeface="Helvetica Neue" pitchFamily="34" charset="-122"/>
                <a:cs typeface="Helvetica Neue" pitchFamily="34" charset="-120"/>
              </a:rPr>
              <a:t>DIFC, ADGM, and Hong Kong are executing aggressive, well-funded, publicly-stated plays targeting the same institutional and crypto-native client base. DIFC's CP-2026-04 closes in 8 weeks; any slippage in our Q3 2026 framework publication gives DIFC unilateral advantage.</a:t>
            </a:r>
            <a:endParaRPr lang="en-US" sz="1100" dirty="0"/>
          </a:p>
        </p:txBody>
      </p:sp>
      <p:sp>
        <p:nvSpPr>
          <p:cNvPr id="9" name="Shape 7"/>
          <p:cNvSpPr/>
          <p:nvPr/>
        </p:nvSpPr>
        <p:spPr>
          <a:xfrm>
            <a:off x="3337560" y="1371600"/>
            <a:ext cx="2423160" cy="2926080"/>
          </a:xfrm>
          <a:prstGeom prst="rect">
            <a:avLst>
              <a:gd name="adj" fmla="val 3019"/>
            </a:avLst>
          </a:prstGeom>
          <a:solidFill>
            <a:srgbClr val="111B2E"/>
          </a:solidFill>
          <a:ln/>
        </p:spPr>
      </p:sp>
      <p:sp>
        <p:nvSpPr>
          <p:cNvPr id="10" name="Shape 8"/>
          <p:cNvSpPr/>
          <p:nvPr/>
        </p:nvSpPr>
        <p:spPr>
          <a:xfrm>
            <a:off x="3337560" y="1371600"/>
            <a:ext cx="2423160" cy="36576"/>
          </a:xfrm>
          <a:prstGeom prst="rect">
            <a:avLst/>
          </a:prstGeom>
          <a:solidFill>
            <a:srgbClr val="F59E0B"/>
          </a:solidFill>
          <a:ln/>
        </p:spPr>
      </p:sp>
      <p:sp>
        <p:nvSpPr>
          <p:cNvPr id="11" name="Text 9"/>
          <p:cNvSpPr/>
          <p:nvPr/>
        </p:nvSpPr>
        <p:spPr>
          <a:xfrm>
            <a:off x="3520440" y="1554480"/>
            <a:ext cx="457200" cy="365760"/>
          </a:xfrm>
          <a:prstGeom prst="rect">
            <a:avLst/>
          </a:prstGeom>
          <a:noFill/>
          <a:ln/>
        </p:spPr>
        <p:txBody>
          <a:bodyPr wrap="square" rtlCol="0" anchor="ctr"/>
          <a:lstStyle/>
          <a:p>
            <a:pPr indent="0" marL="0">
              <a:buNone/>
            </a:pPr>
            <a:r>
              <a:rPr lang="en-US" sz="2000" b="1" dirty="0">
                <a:solidFill>
                  <a:srgbClr val="F59E0B"/>
                </a:solidFill>
                <a:latin typeface="Courier New" pitchFamily="34" charset="0"/>
                <a:ea typeface="Courier New" pitchFamily="34" charset="-122"/>
                <a:cs typeface="Courier New" pitchFamily="34" charset="-120"/>
              </a:rPr>
              <a:t>02</a:t>
            </a:r>
            <a:endParaRPr lang="en-US" sz="2000" dirty="0"/>
          </a:p>
        </p:txBody>
      </p:sp>
      <p:sp>
        <p:nvSpPr>
          <p:cNvPr id="12" name="Text 10"/>
          <p:cNvSpPr/>
          <p:nvPr/>
        </p:nvSpPr>
        <p:spPr>
          <a:xfrm>
            <a:off x="3520440" y="1965960"/>
            <a:ext cx="2057400" cy="457200"/>
          </a:xfrm>
          <a:prstGeom prst="rect">
            <a:avLst/>
          </a:prstGeom>
          <a:noFill/>
          <a:ln/>
        </p:spPr>
        <p:txBody>
          <a:bodyPr wrap="square" rtlCol="0" anchor="ctr"/>
          <a:lstStyle/>
          <a:p>
            <a:pPr indent="0" marL="0">
              <a:buNone/>
            </a:pPr>
            <a:r>
              <a:rPr lang="en-US" sz="1400" b="1" dirty="0">
                <a:solidFill>
                  <a:srgbClr val="FFFFFF"/>
                </a:solidFill>
                <a:latin typeface="Helvetica Neue" pitchFamily="34" charset="0"/>
                <a:ea typeface="Helvetica Neue" pitchFamily="34" charset="-122"/>
                <a:cs typeface="Helvetica Neue" pitchFamily="34" charset="-120"/>
              </a:rPr>
              <a:t>Tokenisation is the strategic anchor</a:t>
            </a:r>
            <a:endParaRPr lang="en-US" sz="1400" dirty="0"/>
          </a:p>
        </p:txBody>
      </p:sp>
      <p:sp>
        <p:nvSpPr>
          <p:cNvPr id="13" name="Text 11"/>
          <p:cNvSpPr/>
          <p:nvPr/>
        </p:nvSpPr>
        <p:spPr>
          <a:xfrm>
            <a:off x="3520440" y="2468880"/>
            <a:ext cx="2057400" cy="1645920"/>
          </a:xfrm>
          <a:prstGeom prst="rect">
            <a:avLst/>
          </a:prstGeom>
          <a:noFill/>
          <a:ln/>
        </p:spPr>
        <p:txBody>
          <a:bodyPr wrap="square" rtlCol="0" anchor="t"/>
          <a:lstStyle/>
          <a:p>
            <a:pPr indent="0" marL="0">
              <a:lnSpc>
                <a:spcPct val="135000"/>
              </a:lnSpc>
              <a:buNone/>
            </a:pPr>
            <a:r>
              <a:rPr lang="en-US" sz="1100" dirty="0">
                <a:solidFill>
                  <a:srgbClr val="94A3B8"/>
                </a:solidFill>
                <a:latin typeface="Helvetica Neue" pitchFamily="34" charset="0"/>
                <a:ea typeface="Helvetica Neue" pitchFamily="34" charset="-122"/>
                <a:cs typeface="Helvetica Neue" pitchFamily="34" charset="-120"/>
              </a:rPr>
              <a:t>7 tokenisation licences today vs. 25+ by 2030 target; $4T tokenised RWA opportunity by 2028 (Standard Chartered); tokenisation is Priority #1 of three 2026 strategic priorities. The highest-margin, stickiest layer in 2026–2028 is custody and collateral infrastructure, not exchange licensing.</a:t>
            </a:r>
            <a:endParaRPr lang="en-US" sz="1100" dirty="0"/>
          </a:p>
        </p:txBody>
      </p:sp>
      <p:sp>
        <p:nvSpPr>
          <p:cNvPr id="14" name="Shape 12"/>
          <p:cNvSpPr/>
          <p:nvPr/>
        </p:nvSpPr>
        <p:spPr>
          <a:xfrm>
            <a:off x="5943600" y="1371600"/>
            <a:ext cx="2423160" cy="2926080"/>
          </a:xfrm>
          <a:prstGeom prst="rect">
            <a:avLst>
              <a:gd name="adj" fmla="val 3019"/>
            </a:avLst>
          </a:prstGeom>
          <a:solidFill>
            <a:srgbClr val="111B2E"/>
          </a:solidFill>
          <a:ln/>
        </p:spPr>
      </p:sp>
      <p:sp>
        <p:nvSpPr>
          <p:cNvPr id="15" name="Shape 13"/>
          <p:cNvSpPr/>
          <p:nvPr/>
        </p:nvSpPr>
        <p:spPr>
          <a:xfrm>
            <a:off x="5943600" y="1371600"/>
            <a:ext cx="2423160" cy="36576"/>
          </a:xfrm>
          <a:prstGeom prst="rect">
            <a:avLst/>
          </a:prstGeom>
          <a:solidFill>
            <a:srgbClr val="10B981"/>
          </a:solidFill>
          <a:ln/>
        </p:spPr>
      </p:sp>
      <p:sp>
        <p:nvSpPr>
          <p:cNvPr id="16" name="Text 14"/>
          <p:cNvSpPr/>
          <p:nvPr/>
        </p:nvSpPr>
        <p:spPr>
          <a:xfrm>
            <a:off x="6126480" y="1554480"/>
            <a:ext cx="457200" cy="365760"/>
          </a:xfrm>
          <a:prstGeom prst="rect">
            <a:avLst/>
          </a:prstGeom>
          <a:noFill/>
          <a:ln/>
        </p:spPr>
        <p:txBody>
          <a:bodyPr wrap="square" rtlCol="0" anchor="ctr"/>
          <a:lstStyle/>
          <a:p>
            <a:pPr indent="0" marL="0">
              <a:buNone/>
            </a:pPr>
            <a:r>
              <a:rPr lang="en-US" sz="2000" b="1" dirty="0">
                <a:solidFill>
                  <a:srgbClr val="10B981"/>
                </a:solidFill>
                <a:latin typeface="Courier New" pitchFamily="34" charset="0"/>
                <a:ea typeface="Courier New" pitchFamily="34" charset="-122"/>
                <a:cs typeface="Courier New" pitchFamily="34" charset="-120"/>
              </a:rPr>
              <a:t>03</a:t>
            </a:r>
            <a:endParaRPr lang="en-US" sz="2000" dirty="0"/>
          </a:p>
        </p:txBody>
      </p:sp>
      <p:sp>
        <p:nvSpPr>
          <p:cNvPr id="17" name="Text 15"/>
          <p:cNvSpPr/>
          <p:nvPr/>
        </p:nvSpPr>
        <p:spPr>
          <a:xfrm>
            <a:off x="6126480" y="1965960"/>
            <a:ext cx="2057400" cy="457200"/>
          </a:xfrm>
          <a:prstGeom prst="rect">
            <a:avLst/>
          </a:prstGeom>
          <a:noFill/>
          <a:ln/>
        </p:spPr>
        <p:txBody>
          <a:bodyPr wrap="square" rtlCol="0" anchor="ctr"/>
          <a:lstStyle/>
          <a:p>
            <a:pPr indent="0" marL="0">
              <a:buNone/>
            </a:pPr>
            <a:r>
              <a:rPr lang="en-US" sz="1400" b="1" dirty="0">
                <a:solidFill>
                  <a:srgbClr val="FFFFFF"/>
                </a:solidFill>
                <a:latin typeface="Helvetica Neue" pitchFamily="34" charset="0"/>
                <a:ea typeface="Helvetica Neue" pitchFamily="34" charset="-122"/>
                <a:cs typeface="Helvetica Neue" pitchFamily="34" charset="-120"/>
              </a:rPr>
              <a:t>Upgrading capital-markets infrastructure, not a crypto initiative</a:t>
            </a:r>
            <a:endParaRPr lang="en-US" sz="1400" dirty="0"/>
          </a:p>
        </p:txBody>
      </p:sp>
      <p:sp>
        <p:nvSpPr>
          <p:cNvPr id="18" name="Text 16"/>
          <p:cNvSpPr/>
          <p:nvPr/>
        </p:nvSpPr>
        <p:spPr>
          <a:xfrm>
            <a:off x="6126480" y="2468880"/>
            <a:ext cx="2057400" cy="1645920"/>
          </a:xfrm>
          <a:prstGeom prst="rect">
            <a:avLst/>
          </a:prstGeom>
          <a:noFill/>
          <a:ln/>
        </p:spPr>
        <p:txBody>
          <a:bodyPr wrap="square" rtlCol="0" anchor="t"/>
          <a:lstStyle/>
          <a:p>
            <a:pPr indent="0" marL="0">
              <a:lnSpc>
                <a:spcPct val="135000"/>
              </a:lnSpc>
              <a:buNone/>
            </a:pPr>
            <a:r>
              <a:rPr lang="en-US" sz="1100" dirty="0">
                <a:solidFill>
                  <a:srgbClr val="94A3B8"/>
                </a:solidFill>
                <a:latin typeface="Helvetica Neue" pitchFamily="34" charset="0"/>
                <a:ea typeface="Helvetica Neue" pitchFamily="34" charset="-122"/>
                <a:cs typeface="Helvetica Neue" pitchFamily="34" charset="-120"/>
              </a:rPr>
              <a:t>The dominant players (BlackRock, StanChart, JPMorgan, HSBC, Mastercard, Citi, Franklin Templeton, Ondo, Circle) are our existing institutional clients. The strategy is best framed as upgrading settlement, collateral, and fund administration — three regulatory arbitrage windows (MiCA CASP, FCA FSMA-crypto, stablecoin licensing) are open and time-limited.</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60F1D"/>
        </a:solidFill>
      </p:bgPr>
    </p:bg>
    <p:spTree>
      <p:nvGrpSpPr>
        <p:cNvPr id="1" name=""/>
        <p:cNvGrpSpPr/>
        <p:nvPr/>
      </p:nvGrpSpPr>
      <p:grpSpPr>
        <a:xfrm>
          <a:off x="0" y="0"/>
          <a:ext cx="0" cy="0"/>
          <a:chOff x="0" y="0"/>
          <a:chExt cx="0" cy="0"/>
        </a:xfrm>
      </p:grpSpPr>
      <p:sp>
        <p:nvSpPr>
          <p:cNvPr id="2" name="Text 0"/>
          <p:cNvSpPr/>
          <p:nvPr/>
        </p:nvSpPr>
        <p:spPr>
          <a:xfrm>
            <a:off x="731520" y="320040"/>
            <a:ext cx="3657600" cy="320040"/>
          </a:xfrm>
          <a:prstGeom prst="rect">
            <a:avLst/>
          </a:prstGeom>
          <a:noFill/>
          <a:ln/>
        </p:spPr>
        <p:txBody>
          <a:bodyPr wrap="square" rtlCol="0" anchor="ctr"/>
          <a:lstStyle/>
          <a:p>
            <a:pPr indent="0" marL="0">
              <a:buNone/>
            </a:pPr>
            <a:r>
              <a:rPr lang="en-US" sz="1000" b="1" spc="200" kern="0" dirty="0">
                <a:solidFill>
                  <a:srgbClr val="F59E0B"/>
                </a:solidFill>
                <a:latin typeface="Helvetica Neue" pitchFamily="34" charset="0"/>
                <a:ea typeface="Helvetica Neue" pitchFamily="34" charset="-122"/>
                <a:cs typeface="Helvetica Neue" pitchFamily="34" charset="-120"/>
              </a:rPr>
              <a:t>RECOMMENDATIONS</a:t>
            </a:r>
            <a:endParaRPr lang="en-US" sz="1000" dirty="0"/>
          </a:p>
        </p:txBody>
      </p:sp>
      <p:sp>
        <p:nvSpPr>
          <p:cNvPr id="3" name="Text 1"/>
          <p:cNvSpPr/>
          <p:nvPr/>
        </p:nvSpPr>
        <p:spPr>
          <a:xfrm>
            <a:off x="731520" y="685800"/>
            <a:ext cx="7680960" cy="457200"/>
          </a:xfrm>
          <a:prstGeom prst="rect">
            <a:avLst/>
          </a:prstGeom>
          <a:noFill/>
          <a:ln/>
        </p:spPr>
        <p:txBody>
          <a:bodyPr wrap="square" rtlCol="0" anchor="ctr"/>
          <a:lstStyle/>
          <a:p>
            <a:pPr indent="0" marL="0">
              <a:buNone/>
            </a:pPr>
            <a:r>
              <a:rPr lang="en-US" sz="2200" b="1" dirty="0">
                <a:solidFill>
                  <a:srgbClr val="FFFFFF"/>
                </a:solidFill>
                <a:latin typeface="Helvetica Neue" pitchFamily="34" charset="0"/>
                <a:ea typeface="Helvetica Neue" pitchFamily="34" charset="-122"/>
                <a:cs typeface="Helvetica Neue" pitchFamily="34" charset="-120"/>
              </a:rPr>
              <a:t>Strategic Actions Required</a:t>
            </a:r>
            <a:endParaRPr lang="en-US" sz="2200" dirty="0"/>
          </a:p>
        </p:txBody>
      </p:sp>
      <p:sp>
        <p:nvSpPr>
          <p:cNvPr id="4" name="Shape 2"/>
          <p:cNvSpPr/>
          <p:nvPr/>
        </p:nvSpPr>
        <p:spPr>
          <a:xfrm>
            <a:off x="731520" y="1435608"/>
            <a:ext cx="320040" cy="320040"/>
          </a:xfrm>
          <a:prstGeom prst="rect">
            <a:avLst>
              <a:gd name="adj" fmla="val 11429"/>
            </a:avLst>
          </a:prstGeom>
          <a:solidFill>
            <a:srgbClr val="EF4444"/>
          </a:solidFill>
          <a:ln/>
        </p:spPr>
      </p:sp>
      <p:sp>
        <p:nvSpPr>
          <p:cNvPr id="5" name="Text 3"/>
          <p:cNvSpPr/>
          <p:nvPr/>
        </p:nvSpPr>
        <p:spPr>
          <a:xfrm>
            <a:off x="731520" y="1435608"/>
            <a:ext cx="320040" cy="320040"/>
          </a:xfrm>
          <a:prstGeom prst="rect">
            <a:avLst/>
          </a:prstGeom>
          <a:noFill/>
          <a:ln/>
        </p:spPr>
        <p:txBody>
          <a:bodyPr wrap="square"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1</a:t>
            </a:r>
            <a:endParaRPr lang="en-US" sz="1200" dirty="0"/>
          </a:p>
        </p:txBody>
      </p:sp>
      <p:sp>
        <p:nvSpPr>
          <p:cNvPr id="6" name="Text 4"/>
          <p:cNvSpPr/>
          <p:nvPr/>
        </p:nvSpPr>
        <p:spPr>
          <a:xfrm>
            <a:off x="1234440" y="1371600"/>
            <a:ext cx="7178040" cy="457200"/>
          </a:xfrm>
          <a:prstGeom prst="rect">
            <a:avLst/>
          </a:prstGeom>
          <a:noFill/>
          <a:ln/>
        </p:spPr>
        <p:txBody>
          <a:bodyPr wrap="square" rtlCol="0" anchor="ctr"/>
          <a:lstStyle/>
          <a:p>
            <a:pPr indent="0" marL="0">
              <a:buNone/>
            </a:pPr>
            <a:r>
              <a:rPr lang="en-US" sz="1300" dirty="0">
                <a:solidFill>
                  <a:srgbClr val="E2E8F0"/>
                </a:solidFill>
                <a:latin typeface="Helvetica Neue" pitchFamily="34" charset="0"/>
                <a:ea typeface="Helvetica Neue" pitchFamily="34" charset="-122"/>
                <a:cs typeface="Helvetica Neue" pitchFamily="34" charset="-120"/>
              </a:rPr>
              <a:t>Reaffirm Resolution 2026-Q1-03 — accelerated Q3 2026 publication of the refreshed Virtual Asset framework, ahead of DIFC's CP-2026-04 close.</a:t>
            </a:r>
            <a:endParaRPr lang="en-US" sz="1300" dirty="0"/>
          </a:p>
        </p:txBody>
      </p:sp>
      <p:sp>
        <p:nvSpPr>
          <p:cNvPr id="7" name="Shape 5"/>
          <p:cNvSpPr/>
          <p:nvPr/>
        </p:nvSpPr>
        <p:spPr>
          <a:xfrm>
            <a:off x="1234440" y="1920240"/>
            <a:ext cx="7178040" cy="9144"/>
          </a:xfrm>
          <a:prstGeom prst="rect">
            <a:avLst/>
          </a:prstGeom>
          <a:solidFill>
            <a:srgbClr val="1E293B"/>
          </a:solidFill>
          <a:ln/>
        </p:spPr>
      </p:sp>
      <p:sp>
        <p:nvSpPr>
          <p:cNvPr id="8" name="Shape 6"/>
          <p:cNvSpPr/>
          <p:nvPr/>
        </p:nvSpPr>
        <p:spPr>
          <a:xfrm>
            <a:off x="731520" y="2121408"/>
            <a:ext cx="320040" cy="320040"/>
          </a:xfrm>
          <a:prstGeom prst="rect">
            <a:avLst>
              <a:gd name="adj" fmla="val 11429"/>
            </a:avLst>
          </a:prstGeom>
          <a:solidFill>
            <a:srgbClr val="F59E0B"/>
          </a:solidFill>
          <a:ln/>
        </p:spPr>
      </p:sp>
      <p:sp>
        <p:nvSpPr>
          <p:cNvPr id="9" name="Text 7"/>
          <p:cNvSpPr/>
          <p:nvPr/>
        </p:nvSpPr>
        <p:spPr>
          <a:xfrm>
            <a:off x="731520" y="2121408"/>
            <a:ext cx="320040" cy="320040"/>
          </a:xfrm>
          <a:prstGeom prst="rect">
            <a:avLst/>
          </a:prstGeom>
          <a:noFill/>
          <a:ln/>
        </p:spPr>
        <p:txBody>
          <a:bodyPr wrap="square"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2</a:t>
            </a:r>
            <a:endParaRPr lang="en-US" sz="1200" dirty="0"/>
          </a:p>
        </p:txBody>
      </p:sp>
      <p:sp>
        <p:nvSpPr>
          <p:cNvPr id="10" name="Text 8"/>
          <p:cNvSpPr/>
          <p:nvPr/>
        </p:nvSpPr>
        <p:spPr>
          <a:xfrm>
            <a:off x="1234440" y="2057400"/>
            <a:ext cx="7178040" cy="457200"/>
          </a:xfrm>
          <a:prstGeom prst="rect">
            <a:avLst/>
          </a:prstGeom>
          <a:noFill/>
          <a:ln/>
        </p:spPr>
        <p:txBody>
          <a:bodyPr wrap="square" rtlCol="0" anchor="ctr"/>
          <a:lstStyle/>
          <a:p>
            <a:pPr indent="0" marL="0">
              <a:buNone/>
            </a:pPr>
            <a:r>
              <a:rPr lang="en-US" sz="1300" dirty="0">
                <a:solidFill>
                  <a:srgbClr val="E2E8F0"/>
                </a:solidFill>
                <a:latin typeface="Helvetica Neue" pitchFamily="34" charset="0"/>
                <a:ea typeface="Helvetica Neue" pitchFamily="34" charset="-122"/>
                <a:cs typeface="Helvetica Neue" pitchFamily="34" charset="-120"/>
              </a:rPr>
              <a:t>Approve the stablecoin regime as a 2026 workstream (not a 2027 deferred item).</a:t>
            </a:r>
            <a:endParaRPr lang="en-US" sz="1300" dirty="0"/>
          </a:p>
        </p:txBody>
      </p:sp>
      <p:sp>
        <p:nvSpPr>
          <p:cNvPr id="11" name="Shape 9"/>
          <p:cNvSpPr/>
          <p:nvPr/>
        </p:nvSpPr>
        <p:spPr>
          <a:xfrm>
            <a:off x="1234440" y="2606040"/>
            <a:ext cx="7178040" cy="9144"/>
          </a:xfrm>
          <a:prstGeom prst="rect">
            <a:avLst/>
          </a:prstGeom>
          <a:solidFill>
            <a:srgbClr val="1E293B"/>
          </a:solidFill>
          <a:ln/>
        </p:spPr>
      </p:sp>
      <p:sp>
        <p:nvSpPr>
          <p:cNvPr id="12" name="Shape 10"/>
          <p:cNvSpPr/>
          <p:nvPr/>
        </p:nvSpPr>
        <p:spPr>
          <a:xfrm>
            <a:off x="731520" y="2807208"/>
            <a:ext cx="320040" cy="320040"/>
          </a:xfrm>
          <a:prstGeom prst="rect">
            <a:avLst>
              <a:gd name="adj" fmla="val 11429"/>
            </a:avLst>
          </a:prstGeom>
          <a:solidFill>
            <a:srgbClr val="3B82F6"/>
          </a:solidFill>
          <a:ln/>
        </p:spPr>
      </p:sp>
      <p:sp>
        <p:nvSpPr>
          <p:cNvPr id="13" name="Text 11"/>
          <p:cNvSpPr/>
          <p:nvPr/>
        </p:nvSpPr>
        <p:spPr>
          <a:xfrm>
            <a:off x="731520" y="2807208"/>
            <a:ext cx="320040" cy="320040"/>
          </a:xfrm>
          <a:prstGeom prst="rect">
            <a:avLst/>
          </a:prstGeom>
          <a:noFill/>
          <a:ln/>
        </p:spPr>
        <p:txBody>
          <a:bodyPr wrap="square"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3</a:t>
            </a:r>
            <a:endParaRPr lang="en-US" sz="1200" dirty="0"/>
          </a:p>
        </p:txBody>
      </p:sp>
      <p:sp>
        <p:nvSpPr>
          <p:cNvPr id="14" name="Text 12"/>
          <p:cNvSpPr/>
          <p:nvPr/>
        </p:nvSpPr>
        <p:spPr>
          <a:xfrm>
            <a:off x="1234440" y="2743200"/>
            <a:ext cx="7178040" cy="457200"/>
          </a:xfrm>
          <a:prstGeom prst="rect">
            <a:avLst/>
          </a:prstGeom>
          <a:noFill/>
          <a:ln/>
        </p:spPr>
        <p:txBody>
          <a:bodyPr wrap="square" rtlCol="0" anchor="ctr"/>
          <a:lstStyle/>
          <a:p>
            <a:pPr indent="0" marL="0">
              <a:buNone/>
            </a:pPr>
            <a:r>
              <a:rPr lang="en-US" sz="1300" dirty="0">
                <a:solidFill>
                  <a:srgbClr val="E2E8F0"/>
                </a:solidFill>
                <a:latin typeface="Helvetica Neue" pitchFamily="34" charset="0"/>
                <a:ea typeface="Helvetica Neue" pitchFamily="34" charset="-122"/>
                <a:cs typeface="Helvetica Neue" pitchFamily="34" charset="-120"/>
              </a:rPr>
              <a:t>Endorse the 3-tier licensing model (Advisory, Trading/Exchange, Custody + Tokenisation) as the design basis for the regulatory drafting team.</a:t>
            </a:r>
            <a:endParaRPr lang="en-US" sz="1300" dirty="0"/>
          </a:p>
        </p:txBody>
      </p:sp>
      <p:sp>
        <p:nvSpPr>
          <p:cNvPr id="15" name="Shape 13"/>
          <p:cNvSpPr/>
          <p:nvPr/>
        </p:nvSpPr>
        <p:spPr>
          <a:xfrm>
            <a:off x="1234440" y="3291840"/>
            <a:ext cx="7178040" cy="9144"/>
          </a:xfrm>
          <a:prstGeom prst="rect">
            <a:avLst/>
          </a:prstGeom>
          <a:solidFill>
            <a:srgbClr val="1E293B"/>
          </a:solidFill>
          <a:ln/>
        </p:spPr>
      </p:sp>
      <p:sp>
        <p:nvSpPr>
          <p:cNvPr id="16" name="Shape 14"/>
          <p:cNvSpPr/>
          <p:nvPr/>
        </p:nvSpPr>
        <p:spPr>
          <a:xfrm>
            <a:off x="731520" y="3493008"/>
            <a:ext cx="320040" cy="320040"/>
          </a:xfrm>
          <a:prstGeom prst="rect">
            <a:avLst>
              <a:gd name="adj" fmla="val 11429"/>
            </a:avLst>
          </a:prstGeom>
          <a:solidFill>
            <a:srgbClr val="10B981"/>
          </a:solidFill>
          <a:ln/>
        </p:spPr>
      </p:sp>
      <p:sp>
        <p:nvSpPr>
          <p:cNvPr id="17" name="Text 15"/>
          <p:cNvSpPr/>
          <p:nvPr/>
        </p:nvSpPr>
        <p:spPr>
          <a:xfrm>
            <a:off x="731520" y="3493008"/>
            <a:ext cx="320040" cy="320040"/>
          </a:xfrm>
          <a:prstGeom prst="rect">
            <a:avLst/>
          </a:prstGeom>
          <a:noFill/>
          <a:ln/>
        </p:spPr>
        <p:txBody>
          <a:bodyPr wrap="square"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4</a:t>
            </a:r>
            <a:endParaRPr lang="en-US" sz="1200" dirty="0"/>
          </a:p>
        </p:txBody>
      </p:sp>
      <p:sp>
        <p:nvSpPr>
          <p:cNvPr id="18" name="Text 16"/>
          <p:cNvSpPr/>
          <p:nvPr/>
        </p:nvSpPr>
        <p:spPr>
          <a:xfrm>
            <a:off x="1234440" y="3429000"/>
            <a:ext cx="7178040" cy="457200"/>
          </a:xfrm>
          <a:prstGeom prst="rect">
            <a:avLst/>
          </a:prstGeom>
          <a:noFill/>
          <a:ln/>
        </p:spPr>
        <p:txBody>
          <a:bodyPr wrap="square" rtlCol="0" anchor="ctr"/>
          <a:lstStyle/>
          <a:p>
            <a:pPr indent="0" marL="0">
              <a:buNone/>
            </a:pPr>
            <a:r>
              <a:rPr lang="en-US" sz="1300" dirty="0">
                <a:solidFill>
                  <a:srgbClr val="E2E8F0"/>
                </a:solidFill>
                <a:latin typeface="Helvetica Neue" pitchFamily="34" charset="0"/>
                <a:ea typeface="Helvetica Neue" pitchFamily="34" charset="-122"/>
                <a:cs typeface="Helvetica Neue" pitchFamily="34" charset="-120"/>
              </a:rPr>
              <a:t>Authorise bilateral MoU discussions with HK SFC, MAS, and FCA for cross-border CASP, stablecoin, and custodian recognition.</a:t>
            </a:r>
            <a:endParaRPr lang="en-US" sz="1300" dirty="0"/>
          </a:p>
        </p:txBody>
      </p:sp>
      <p:sp>
        <p:nvSpPr>
          <p:cNvPr id="19" name="Shape 17"/>
          <p:cNvSpPr/>
          <p:nvPr/>
        </p:nvSpPr>
        <p:spPr>
          <a:xfrm>
            <a:off x="1234440" y="3977640"/>
            <a:ext cx="7178040" cy="9144"/>
          </a:xfrm>
          <a:prstGeom prst="rect">
            <a:avLst/>
          </a:prstGeom>
          <a:solidFill>
            <a:srgbClr val="1E293B"/>
          </a:solidFill>
          <a:ln/>
        </p:spPr>
      </p:sp>
      <p:sp>
        <p:nvSpPr>
          <p:cNvPr id="20" name="Shape 18"/>
          <p:cNvSpPr/>
          <p:nvPr/>
        </p:nvSpPr>
        <p:spPr>
          <a:xfrm>
            <a:off x="731520" y="4178808"/>
            <a:ext cx="320040" cy="320040"/>
          </a:xfrm>
          <a:prstGeom prst="rect">
            <a:avLst>
              <a:gd name="adj" fmla="val 11429"/>
            </a:avLst>
          </a:prstGeom>
          <a:solidFill>
            <a:srgbClr val="94A3B8"/>
          </a:solidFill>
          <a:ln/>
        </p:spPr>
      </p:sp>
      <p:sp>
        <p:nvSpPr>
          <p:cNvPr id="21" name="Text 19"/>
          <p:cNvSpPr/>
          <p:nvPr/>
        </p:nvSpPr>
        <p:spPr>
          <a:xfrm>
            <a:off x="731520" y="4178808"/>
            <a:ext cx="320040" cy="320040"/>
          </a:xfrm>
          <a:prstGeom prst="rect">
            <a:avLst/>
          </a:prstGeom>
          <a:noFill/>
          <a:ln/>
        </p:spPr>
        <p:txBody>
          <a:bodyPr wrap="square"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5</a:t>
            </a:r>
            <a:endParaRPr lang="en-US" sz="1200" dirty="0"/>
          </a:p>
        </p:txBody>
      </p:sp>
      <p:sp>
        <p:nvSpPr>
          <p:cNvPr id="22" name="Text 20"/>
          <p:cNvSpPr/>
          <p:nvPr/>
        </p:nvSpPr>
        <p:spPr>
          <a:xfrm>
            <a:off x="1234440" y="4114800"/>
            <a:ext cx="7178040" cy="457200"/>
          </a:xfrm>
          <a:prstGeom prst="rect">
            <a:avLst/>
          </a:prstGeom>
          <a:noFill/>
          <a:ln/>
        </p:spPr>
        <p:txBody>
          <a:bodyPr wrap="square" rtlCol="0" anchor="ctr"/>
          <a:lstStyle/>
          <a:p>
            <a:pPr indent="0" marL="0">
              <a:buNone/>
            </a:pPr>
            <a:r>
              <a:rPr lang="en-US" sz="1300" dirty="0">
                <a:solidFill>
                  <a:srgbClr val="E2E8F0"/>
                </a:solidFill>
                <a:latin typeface="Helvetica Neue" pitchFamily="34" charset="0"/>
                <a:ea typeface="Helvetica Neue" pitchFamily="34" charset="-122"/>
                <a:cs typeface="Helvetica Neue" pitchFamily="34" charset="-120"/>
              </a:rPr>
              <a:t>Approve the 8–12 FTE uplift in the Q2 2026 budget cycle, with the Digital Assets P&amp;L ring-fenced and reported quarterly to the Board.</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60F1D"/>
        </a:solidFill>
      </p:bgPr>
    </p:bg>
    <p:spTree>
      <p:nvGrpSpPr>
        <p:cNvPr id="1" name=""/>
        <p:cNvGrpSpPr/>
        <p:nvPr/>
      </p:nvGrpSpPr>
      <p:grpSpPr>
        <a:xfrm>
          <a:off x="0" y="0"/>
          <a:ext cx="0" cy="0"/>
          <a:chOff x="0" y="0"/>
          <a:chExt cx="0" cy="0"/>
        </a:xfrm>
      </p:grpSpPr>
      <p:sp>
        <p:nvSpPr>
          <p:cNvPr id="2" name="Shape 0"/>
          <p:cNvSpPr/>
          <p:nvPr/>
        </p:nvSpPr>
        <p:spPr>
          <a:xfrm>
            <a:off x="0" y="0"/>
            <a:ext cx="12192000" cy="54864"/>
          </a:xfrm>
          <a:prstGeom prst="rect">
            <a:avLst/>
          </a:prstGeom>
          <a:solidFill>
            <a:srgbClr val="3B82F6"/>
          </a:solidFill>
          <a:ln/>
        </p:spPr>
      </p:sp>
      <p:sp>
        <p:nvSpPr>
          <p:cNvPr id="3" name="Text 1"/>
          <p:cNvSpPr/>
          <p:nvPr/>
        </p:nvSpPr>
        <p:spPr>
          <a:xfrm>
            <a:off x="731520" y="1371600"/>
            <a:ext cx="7680960" cy="457200"/>
          </a:xfrm>
          <a:prstGeom prst="rect">
            <a:avLst/>
          </a:prstGeom>
          <a:noFill/>
          <a:ln/>
        </p:spPr>
        <p:txBody>
          <a:bodyPr wrap="square" rtlCol="0" anchor="ctr"/>
          <a:lstStyle/>
          <a:p>
            <a:pPr algn="ctr" indent="0" marL="0">
              <a:buNone/>
            </a:pPr>
            <a:r>
              <a:rPr lang="en-US" sz="2800" b="1" dirty="0">
                <a:solidFill>
                  <a:srgbClr val="FFFFFF"/>
                </a:solidFill>
                <a:latin typeface="Helvetica Neue" pitchFamily="34" charset="0"/>
                <a:ea typeface="Helvetica Neue" pitchFamily="34" charset="-122"/>
                <a:cs typeface="Helvetica Neue" pitchFamily="34" charset="-120"/>
              </a:rPr>
              <a:t>NEXT STEPS</a:t>
            </a:r>
            <a:endParaRPr lang="en-US" sz="2800" dirty="0"/>
          </a:p>
        </p:txBody>
      </p:sp>
      <p:sp>
        <p:nvSpPr>
          <p:cNvPr id="4" name="Text 2"/>
          <p:cNvSpPr/>
          <p:nvPr/>
        </p:nvSpPr>
        <p:spPr>
          <a:xfrm>
            <a:off x="1371600" y="2011680"/>
            <a:ext cx="6400800" cy="548640"/>
          </a:xfrm>
          <a:prstGeom prst="rect">
            <a:avLst/>
          </a:prstGeom>
          <a:noFill/>
          <a:ln/>
        </p:spPr>
        <p:txBody>
          <a:bodyPr wrap="square" rtlCol="0" anchor="ctr"/>
          <a:lstStyle/>
          <a:p>
            <a:pPr algn="ctr" indent="0" marL="0">
              <a:buNone/>
            </a:pPr>
            <a:r>
              <a:rPr lang="en-US" sz="1400" dirty="0">
                <a:solidFill>
                  <a:srgbClr val="94A3B8"/>
                </a:solidFill>
                <a:latin typeface="Helvetica Neue" pitchFamily="34" charset="0"/>
                <a:ea typeface="Helvetica Neue" pitchFamily="34" charset="-122"/>
                <a:cs typeface="Helvetica Neue" pitchFamily="34" charset="-120"/>
              </a:rPr>
              <a:t>We recommend proceeding with the actions outlined above.</a:t>
            </a:r>
            <a:endParaRPr lang="en-US" sz="1400" dirty="0"/>
          </a:p>
        </p:txBody>
      </p:sp>
      <p:sp>
        <p:nvSpPr>
          <p:cNvPr id="5" name="Text 3"/>
          <p:cNvSpPr/>
          <p:nvPr/>
        </p:nvSpPr>
        <p:spPr>
          <a:xfrm>
            <a:off x="1828800" y="2834640"/>
            <a:ext cx="5486400" cy="365760"/>
          </a:xfrm>
          <a:prstGeom prst="rect">
            <a:avLst/>
          </a:prstGeom>
          <a:noFill/>
          <a:ln/>
        </p:spPr>
        <p:txBody>
          <a:bodyPr wrap="square" rtlCol="0" anchor="ctr"/>
          <a:lstStyle/>
          <a:p>
            <a:pPr indent="0" marL="0">
              <a:buNone/>
            </a:pPr>
            <a:r>
              <a:rPr lang="en-US" sz="1300" dirty="0">
                <a:solidFill>
                  <a:srgbClr val="E2E8F0"/>
                </a:solidFill>
                <a:latin typeface="Helvetica Neue" pitchFamily="34" charset="0"/>
                <a:ea typeface="Helvetica Neue" pitchFamily="34" charset="-122"/>
                <a:cs typeface="Helvetica Neue" pitchFamily="34" charset="-120"/>
              </a:rPr>
              <a:t>1.  Q3 2026 — Publish refreshed Virtual Asset framework (must beat DIFC CP-2026-04 close).</a:t>
            </a:r>
            <a:endParaRPr lang="en-US" sz="1300" dirty="0"/>
          </a:p>
        </p:txBody>
      </p:sp>
      <p:sp>
        <p:nvSpPr>
          <p:cNvPr id="6" name="Text 4"/>
          <p:cNvSpPr/>
          <p:nvPr/>
        </p:nvSpPr>
        <p:spPr>
          <a:xfrm>
            <a:off x="1828800" y="3291840"/>
            <a:ext cx="5486400" cy="365760"/>
          </a:xfrm>
          <a:prstGeom prst="rect">
            <a:avLst/>
          </a:prstGeom>
          <a:noFill/>
          <a:ln/>
        </p:spPr>
        <p:txBody>
          <a:bodyPr wrap="square" rtlCol="0" anchor="ctr"/>
          <a:lstStyle/>
          <a:p>
            <a:pPr indent="0" marL="0">
              <a:buNone/>
            </a:pPr>
            <a:r>
              <a:rPr lang="en-US" sz="1300" dirty="0">
                <a:solidFill>
                  <a:srgbClr val="E2E8F0"/>
                </a:solidFill>
                <a:latin typeface="Helvetica Neue" pitchFamily="34" charset="0"/>
                <a:ea typeface="Helvetica Neue" pitchFamily="34" charset="-122"/>
                <a:cs typeface="Helvetica Neue" pitchFamily="34" charset="-120"/>
              </a:rPr>
              <a:t>2.  Q4 2026 — Stablecoin licensing regime live; first 3 of 10 priority VA anchor tenants signed.</a:t>
            </a:r>
            <a:endParaRPr lang="en-US" sz="1300" dirty="0"/>
          </a:p>
        </p:txBody>
      </p:sp>
      <p:sp>
        <p:nvSpPr>
          <p:cNvPr id="7" name="Text 5"/>
          <p:cNvSpPr/>
          <p:nvPr/>
        </p:nvSpPr>
        <p:spPr>
          <a:xfrm>
            <a:off x="1828800" y="3749040"/>
            <a:ext cx="5486400" cy="365760"/>
          </a:xfrm>
          <a:prstGeom prst="rect">
            <a:avLst/>
          </a:prstGeom>
          <a:noFill/>
          <a:ln/>
        </p:spPr>
        <p:txBody>
          <a:bodyPr wrap="square" rtlCol="0" anchor="ctr"/>
          <a:lstStyle/>
          <a:p>
            <a:pPr indent="0" marL="0">
              <a:buNone/>
            </a:pPr>
            <a:r>
              <a:rPr lang="en-US" sz="1300" dirty="0">
                <a:solidFill>
                  <a:srgbClr val="E2E8F0"/>
                </a:solidFill>
                <a:latin typeface="Helvetica Neue" pitchFamily="34" charset="0"/>
                <a:ea typeface="Helvetica Neue" pitchFamily="34" charset="-122"/>
                <a:cs typeface="Helvetica Neue" pitchFamily="34" charset="-120"/>
              </a:rPr>
              <a:t>3.  Q1 2027 — Tokenised sovereign bond pilot + custody regime upgrade (statutory trust, daily attestation, staking risk rules).</a:t>
            </a:r>
            <a:endParaRPr lang="en-US" sz="1300" dirty="0"/>
          </a:p>
        </p:txBody>
      </p:sp>
      <p:sp>
        <p:nvSpPr>
          <p:cNvPr id="8" name="Text 6"/>
          <p:cNvSpPr/>
          <p:nvPr/>
        </p:nvSpPr>
        <p:spPr>
          <a:xfrm>
            <a:off x="1828800" y="4206240"/>
            <a:ext cx="5486400" cy="365760"/>
          </a:xfrm>
          <a:prstGeom prst="rect">
            <a:avLst/>
          </a:prstGeom>
          <a:noFill/>
          <a:ln/>
        </p:spPr>
        <p:txBody>
          <a:bodyPr wrap="square" rtlCol="0" anchor="ctr"/>
          <a:lstStyle/>
          <a:p>
            <a:pPr indent="0" marL="0">
              <a:buNone/>
            </a:pPr>
            <a:r>
              <a:rPr lang="en-US" sz="1300" dirty="0">
                <a:solidFill>
                  <a:srgbClr val="E2E8F0"/>
                </a:solidFill>
                <a:latin typeface="Helvetica Neue" pitchFamily="34" charset="0"/>
                <a:ea typeface="Helvetica Neue" pitchFamily="34" charset="-122"/>
                <a:cs typeface="Helvetica Neue" pitchFamily="34" charset="-120"/>
              </a:rPr>
              <a:t>4.  Q2 2027 — Bilateral supervisory MoUs with HK SFC, MAS, FCA; DeFi protocol safe-harbour consultation paper published.</a:t>
            </a:r>
            <a:endParaRPr lang="en-US" sz="1300" dirty="0"/>
          </a:p>
        </p:txBody>
      </p:sp>
      <p:sp>
        <p:nvSpPr>
          <p:cNvPr id="9" name="Text 7"/>
          <p:cNvSpPr/>
          <p:nvPr/>
        </p:nvSpPr>
        <p:spPr>
          <a:xfrm>
            <a:off x="731520" y="4572000"/>
            <a:ext cx="7680960" cy="274320"/>
          </a:xfrm>
          <a:prstGeom prst="rect">
            <a:avLst/>
          </a:prstGeom>
          <a:noFill/>
          <a:ln/>
        </p:spPr>
        <p:txBody>
          <a:bodyPr wrap="square" rtlCol="0" anchor="ctr"/>
          <a:lstStyle/>
          <a:p>
            <a:pPr algn="ctr" indent="0" marL="0">
              <a:buNone/>
            </a:pPr>
            <a:r>
              <a:rPr lang="en-US" sz="900" dirty="0">
                <a:solidFill>
                  <a:srgbClr val="1E293B"/>
                </a:solidFill>
                <a:latin typeface="Courier New" pitchFamily="34" charset="0"/>
                <a:ea typeface="Courier New" pitchFamily="34" charset="-122"/>
                <a:cs typeface="Courier New" pitchFamily="34" charset="-120"/>
              </a:rPr>
              <a:t>CONFIDENTIAL — FOR INTERNAL USE ONLY</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Digital Assets Strategy 2026–2030 — Bridge to 2030 Pillar</dc:title>
  <dc:subject>SCR Strategic Presentation</dc:subject>
  <dc:creator>CSO Strategic Intelligence Assistant</dc:creator>
  <cp:lastModifiedBy>CSO Strategic Intelligence Assistant</cp:lastModifiedBy>
  <cp:revision>1</cp:revision>
  <dcterms:created xsi:type="dcterms:W3CDTF">2026-06-08T19:20:47Z</dcterms:created>
  <dcterms:modified xsi:type="dcterms:W3CDTF">2026-06-08T19:20:47Z</dcterms:modified>
</cp:coreProperties>
</file>