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645920"/>
            <a:ext cx="7680960" cy="1097280"/>
          </a:xfrm>
          <a:prstGeom prst="rect">
            <a:avLst/>
          </a:prstGeom>
          <a:noFill/>
          <a:ln/>
        </p:spPr>
        <p:txBody>
          <a:bodyPr wrap="square" rtlCol="0" anchor="ctr"/>
          <a:lstStyle/>
          <a:p>
            <a:pPr algn="l" indent="0" marL="0">
              <a:buNone/>
            </a:pPr>
            <a:r>
              <a:rPr lang="en-US" sz="3200" b="1" dirty="0">
                <a:solidFill>
                  <a:srgbClr val="FFFFFF"/>
                </a:solidFill>
                <a:latin typeface="Helvetica Neue" pitchFamily="34" charset="0"/>
                <a:ea typeface="Helvetica Neue" pitchFamily="34" charset="-122"/>
                <a:cs typeface="Helvetica Neue" pitchFamily="34" charset="-120"/>
              </a:rPr>
              <a:t>UAE Automotive Market Risks 2024-2026</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algn="l" indent="0" marL="0">
              <a:buNone/>
            </a:pPr>
            <a:r>
              <a:rPr lang="en-US" sz="1600" dirty="0">
                <a:solidFill>
                  <a:srgbClr val="94A3B8"/>
                </a:solidFill>
                <a:latin typeface="Helvetica Neue" pitchFamily="34" charset="0"/>
                <a:ea typeface="Helvetica Neue" pitchFamily="34" charset="-122"/>
                <a:cs typeface="Helvetica Neue" pitchFamily="34" charset="-120"/>
              </a:rPr>
              <a:t>Situation • Complication • Resolution</a:t>
            </a:r>
            <a:endParaRPr lang="en-US" sz="1600" dirty="0"/>
          </a:p>
        </p:txBody>
      </p:sp>
      <p:sp>
        <p:nvSpPr>
          <p:cNvPr id="5" name="Shape 3"/>
          <p:cNvSpPr/>
          <p:nvPr/>
        </p:nvSpPr>
        <p:spPr>
          <a:xfrm>
            <a:off x="731520" y="3474720"/>
            <a:ext cx="2286000" cy="27432"/>
          </a:xfrm>
          <a:prstGeom prst="rect">
            <a:avLst/>
          </a:prstGeom>
          <a:solidFill>
            <a:srgbClr val="3B82F6"/>
          </a:solidFill>
          <a:ln/>
        </p:spPr>
      </p:sp>
      <p:sp>
        <p:nvSpPr>
          <p:cNvPr id="6" name="Text 4"/>
          <p:cNvSpPr/>
          <p:nvPr/>
        </p:nvSpPr>
        <p:spPr>
          <a:xfrm>
            <a:off x="731520" y="3749040"/>
            <a:ext cx="7680960" cy="365760"/>
          </a:xfrm>
          <a:prstGeom prst="rect">
            <a:avLst/>
          </a:prstGeom>
          <a:noFill/>
          <a:ln/>
        </p:spPr>
        <p:txBody>
          <a:bodyPr wrap="square" rtlCol="0" anchor="ctr"/>
          <a:lstStyle/>
          <a:p>
            <a:pPr algn="l" indent="0" marL="0">
              <a:buNone/>
            </a:pPr>
            <a:r>
              <a:rPr lang="en-US" sz="1200" dirty="0">
                <a:solidFill>
                  <a:srgbClr val="94A3B8"/>
                </a:solidFill>
                <a:latin typeface="Helvetica Neue" pitchFamily="34" charset="0"/>
                <a:ea typeface="Helvetica Neue" pitchFamily="34" charset="-122"/>
                <a:cs typeface="Helvetica Neue" pitchFamily="34" charset="-120"/>
              </a:rPr>
              <a:t>June 8, 2026  •  Chief Strategy Office</a:t>
            </a:r>
            <a:endParaRPr lang="en-US" sz="1200" dirty="0"/>
          </a:p>
        </p:txBody>
      </p:sp>
      <p:sp>
        <p:nvSpPr>
          <p:cNvPr id="7" name="Text 5"/>
          <p:cNvSpPr/>
          <p:nvPr/>
        </p:nvSpPr>
        <p:spPr>
          <a:xfrm>
            <a:off x="731520" y="4572000"/>
            <a:ext cx="7680960" cy="274320"/>
          </a:xfrm>
          <a:prstGeom prst="rect">
            <a:avLst/>
          </a:prstGeom>
          <a:noFill/>
          <a:ln/>
        </p:spPr>
        <p:txBody>
          <a:bodyPr wrap="square" rtlCol="0" anchor="ctr"/>
          <a:lstStyle/>
          <a:p>
            <a:pPr algn="l"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457200"/>
            <a:ext cx="2743200" cy="457200"/>
          </a:xfrm>
          <a:prstGeom prst="rect">
            <a:avLst/>
          </a:prstGeom>
          <a:noFill/>
          <a:ln/>
        </p:spPr>
        <p:txBody>
          <a:bodyPr wrap="square" rtlCol="0" anchor="ctr"/>
          <a:lstStyle/>
          <a:p>
            <a:pPr indent="0" marL="0">
              <a:buNone/>
            </a:pPr>
            <a:r>
              <a:rPr lang="en-US" sz="1100" b="1" spc="300" kern="0" dirty="0">
                <a:solidFill>
                  <a:srgbClr val="3B82F6"/>
                </a:solidFill>
                <a:latin typeface="Helvetica Neue" pitchFamily="34" charset="0"/>
                <a:ea typeface="Helvetica Neue" pitchFamily="34" charset="-122"/>
                <a:cs typeface="Helvetica Neue" pitchFamily="34" charset="-120"/>
              </a:rPr>
              <a:t>AGENDA</a:t>
            </a:r>
            <a:endParaRPr lang="en-US" sz="1100" dirty="0"/>
          </a:p>
        </p:txBody>
      </p:sp>
      <p:sp>
        <p:nvSpPr>
          <p:cNvPr id="3" name="Text 1"/>
          <p:cNvSpPr/>
          <p:nvPr/>
        </p:nvSpPr>
        <p:spPr>
          <a:xfrm>
            <a:off x="731520" y="12801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01</a:t>
            </a:r>
            <a:endParaRPr lang="en-US" sz="1400" dirty="0"/>
          </a:p>
        </p:txBody>
      </p:sp>
      <p:sp>
        <p:nvSpPr>
          <p:cNvPr id="4" name="Text 2"/>
          <p:cNvSpPr/>
          <p:nvPr/>
        </p:nvSpPr>
        <p:spPr>
          <a:xfrm>
            <a:off x="1463040" y="12801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Situation: Current State of the UAE Automotive Market</a:t>
            </a:r>
            <a:endParaRPr lang="en-US" sz="1600" dirty="0"/>
          </a:p>
        </p:txBody>
      </p:sp>
      <p:sp>
        <p:nvSpPr>
          <p:cNvPr id="5" name="Shape 3"/>
          <p:cNvSpPr/>
          <p:nvPr/>
        </p:nvSpPr>
        <p:spPr>
          <a:xfrm>
            <a:off x="1463040" y="1783080"/>
            <a:ext cx="6766560" cy="9144"/>
          </a:xfrm>
          <a:prstGeom prst="rect">
            <a:avLst/>
          </a:prstGeom>
          <a:solidFill>
            <a:srgbClr val="1E293B"/>
          </a:solidFill>
          <a:ln/>
        </p:spPr>
      </p:sp>
      <p:sp>
        <p:nvSpPr>
          <p:cNvPr id="6" name="Text 4"/>
          <p:cNvSpPr/>
          <p:nvPr/>
        </p:nvSpPr>
        <p:spPr>
          <a:xfrm>
            <a:off x="731520" y="192024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02</a:t>
            </a:r>
            <a:endParaRPr lang="en-US" sz="1400" dirty="0"/>
          </a:p>
        </p:txBody>
      </p:sp>
      <p:sp>
        <p:nvSpPr>
          <p:cNvPr id="7" name="Text 5"/>
          <p:cNvSpPr/>
          <p:nvPr/>
        </p:nvSpPr>
        <p:spPr>
          <a:xfrm>
            <a:off x="1463040" y="192024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Complication: Emerging Risks and Market Pressures</a:t>
            </a:r>
            <a:endParaRPr lang="en-US" sz="1600" dirty="0"/>
          </a:p>
        </p:txBody>
      </p:sp>
      <p:sp>
        <p:nvSpPr>
          <p:cNvPr id="8" name="Shape 6"/>
          <p:cNvSpPr/>
          <p:nvPr/>
        </p:nvSpPr>
        <p:spPr>
          <a:xfrm>
            <a:off x="1463040" y="2423160"/>
            <a:ext cx="6766560" cy="9144"/>
          </a:xfrm>
          <a:prstGeom prst="rect">
            <a:avLst/>
          </a:prstGeom>
          <a:solidFill>
            <a:srgbClr val="1E293B"/>
          </a:solidFill>
          <a:ln/>
        </p:spPr>
      </p:sp>
      <p:sp>
        <p:nvSpPr>
          <p:cNvPr id="9" name="Text 7"/>
          <p:cNvSpPr/>
          <p:nvPr/>
        </p:nvSpPr>
        <p:spPr>
          <a:xfrm>
            <a:off x="731520" y="256032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03</a:t>
            </a:r>
            <a:endParaRPr lang="en-US" sz="1400" dirty="0"/>
          </a:p>
        </p:txBody>
      </p:sp>
      <p:sp>
        <p:nvSpPr>
          <p:cNvPr id="10" name="Text 8"/>
          <p:cNvSpPr/>
          <p:nvPr/>
        </p:nvSpPr>
        <p:spPr>
          <a:xfrm>
            <a:off x="1463040" y="256032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Resolution: Strategic Recommendations for Stakeholders</a:t>
            </a:r>
            <a:endParaRPr lang="en-US" sz="1600" dirty="0"/>
          </a:p>
        </p:txBody>
      </p:sp>
      <p:sp>
        <p:nvSpPr>
          <p:cNvPr id="11" name="Shape 9"/>
          <p:cNvSpPr/>
          <p:nvPr/>
        </p:nvSpPr>
        <p:spPr>
          <a:xfrm>
            <a:off x="1463040" y="3063240"/>
            <a:ext cx="6766560" cy="9144"/>
          </a:xfrm>
          <a:prstGeom prst="rect">
            <a:avLst/>
          </a:prstGeom>
          <a:solidFill>
            <a:srgbClr val="1E293B"/>
          </a:solidFill>
          <a:ln/>
        </p:spPr>
      </p:sp>
      <p:sp>
        <p:nvSpPr>
          <p:cNvPr id="12" name="Text 10"/>
          <p:cNvSpPr/>
          <p:nvPr/>
        </p:nvSpPr>
        <p:spPr>
          <a:xfrm>
            <a:off x="731520" y="320040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04</a:t>
            </a:r>
            <a:endParaRPr lang="en-US" sz="1400" dirty="0"/>
          </a:p>
        </p:txBody>
      </p:sp>
      <p:sp>
        <p:nvSpPr>
          <p:cNvPr id="13" name="Text 11"/>
          <p:cNvSpPr/>
          <p:nvPr/>
        </p:nvSpPr>
        <p:spPr>
          <a:xfrm>
            <a:off x="1463040" y="320040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Key Findings</a:t>
            </a:r>
            <a:endParaRPr lang="en-US" sz="1600" dirty="0"/>
          </a:p>
        </p:txBody>
      </p:sp>
      <p:sp>
        <p:nvSpPr>
          <p:cNvPr id="14" name="Shape 12"/>
          <p:cNvSpPr/>
          <p:nvPr/>
        </p:nvSpPr>
        <p:spPr>
          <a:xfrm>
            <a:off x="1463040" y="3703320"/>
            <a:ext cx="6766560" cy="9144"/>
          </a:xfrm>
          <a:prstGeom prst="rect">
            <a:avLst/>
          </a:prstGeom>
          <a:solidFill>
            <a:srgbClr val="1E293B"/>
          </a:solidFill>
          <a:ln/>
        </p:spPr>
      </p:sp>
      <p:sp>
        <p:nvSpPr>
          <p:cNvPr id="15" name="Text 13"/>
          <p:cNvSpPr/>
          <p:nvPr/>
        </p:nvSpPr>
        <p:spPr>
          <a:xfrm>
            <a:off x="731520" y="384048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05</a:t>
            </a:r>
            <a:endParaRPr lang="en-US" sz="1400" dirty="0"/>
          </a:p>
        </p:txBody>
      </p:sp>
      <p:sp>
        <p:nvSpPr>
          <p:cNvPr id="16" name="Text 14"/>
          <p:cNvSpPr/>
          <p:nvPr/>
        </p:nvSpPr>
        <p:spPr>
          <a:xfrm>
            <a:off x="1463040" y="384048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Recommendations</a:t>
            </a:r>
            <a:endParaRPr lang="en-US" sz="1600" dirty="0"/>
          </a:p>
        </p:txBody>
      </p:sp>
      <p:sp>
        <p:nvSpPr>
          <p:cNvPr id="17" name="Shape 15"/>
          <p:cNvSpPr/>
          <p:nvPr/>
        </p:nvSpPr>
        <p:spPr>
          <a:xfrm>
            <a:off x="1463040" y="4343400"/>
            <a:ext cx="6766560" cy="9144"/>
          </a:xfrm>
          <a:prstGeom prst="rect">
            <a:avLst/>
          </a:prstGeom>
          <a:solidFill>
            <a:srgbClr val="1E293B"/>
          </a:solidFill>
          <a:ln/>
        </p:spPr>
      </p:sp>
      <p:sp>
        <p:nvSpPr>
          <p:cNvPr id="18" name="Text 16"/>
          <p:cNvSpPr/>
          <p:nvPr/>
        </p:nvSpPr>
        <p:spPr>
          <a:xfrm>
            <a:off x="731520" y="44805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06</a:t>
            </a:r>
            <a:endParaRPr lang="en-US" sz="1400" dirty="0"/>
          </a:p>
        </p:txBody>
      </p:sp>
      <p:sp>
        <p:nvSpPr>
          <p:cNvPr id="19" name="Text 17"/>
          <p:cNvSpPr/>
          <p:nvPr/>
        </p:nvSpPr>
        <p:spPr>
          <a:xfrm>
            <a:off x="1463040" y="44805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Next Steps &amp; Discussion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SITUATION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Situation: Current State of the UAE Automotive Market</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The UAE automotive market remains one of the most dynamic in the GCC, with passenger vehicle sales reaching approximately 95,000 units in 2023, driven by sustained economic growth, a young demographic profile, and ongoing infrastructure investments. The market is characterized by premium brand dominance, with luxury vehicles commanding over 40% market share, supported by high disposable income levels and a strong culture of vehicle ownership. Government initiatives, including Dubai's Smart City agenda and Abu Dhabi's industrial diversification programs, continue to stimulate commercial and fleet vehicle demand. Recent data indicates a 12% year-over-year growth in new vehicle registrations, outpacing broader GCC averages and reflecting resilient consumer confidence and robust business activity.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COMPLICATION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Complication: Emerging Risks and Market Pressures</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The UAE automotive sector faces mounting headwinds as global economic uncertainty, including persistent inflation and volatile oil prices, constrains consumer spending power and corporate fleet budgets, with projected GDP growth moderating to 3.5% in 2024. Supply chain vulnerabilities persist, with semiconductor constraints and geopolitical tensions in Red Sea shipping corridors extending vehicle procurement lead times by 8-12 weeks and inflating acquisition costs by an estimated 15-20%. Simultaneously, aggressive EV transition mandates and shifting consumer preferences toward sustainable mobility place pressure on traditional ICE-focused dealerships, as EV registrations grew 185% in 2023 but still represent less than 8% of total sales. Regulatory shifts, including stricter emissions standards and potential carbon pricing mechanisms, compound these challenges, forcing stakeholders to recalibrate investment strategies and product portfolios while defending margins in an increasingly price-sensitive environment.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RESOLUTION</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Resolution: Strategic Recommendations for Stakeholders</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Market participants must adopt a multi-pronged strategy to navigate these headwinds, beginning with diversifying supply chain dependencies through regional sourcing partnerships in Saudi Arabia and India, which can reduce lead time exposure by up to 30% and hedge against geopolitical disruptions. Dealers and OEMs should accelerate EV readiness by investing in charging infrastructure and technician training, targeting a 25% EV portfolio mix by 2026 to capture growing demand while qualifying for government incentives and green financing programs. Additionally, stakeholders should implement dynamic pricing and flexible financing models, including subscription-based mobility services, to address evolving consumer cost sensitivity and maintain volume in a competitive sales environment. Proactive regulatory engagement and early compliance with emissions standards will provide competitive advantage, while data-driven customer segmentation and localized marketing campaigns will strengthen brand loyalty and optimize revenue per customer.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KEY FINDINGS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Assessment Summary</a:t>
            </a:r>
            <a:endParaRPr lang="en-US" sz="2200" dirty="0"/>
          </a:p>
        </p:txBody>
      </p:sp>
      <p:sp>
        <p:nvSpPr>
          <p:cNvPr id="4" name="Shape 2"/>
          <p:cNvSpPr/>
          <p:nvPr/>
        </p:nvSpPr>
        <p:spPr>
          <a:xfrm>
            <a:off x="731520" y="1371600"/>
            <a:ext cx="2423160" cy="2926080"/>
          </a:xfrm>
          <a:prstGeom prst="rect">
            <a:avLst>
              <a:gd name="adj" fmla="val 3019"/>
            </a:avLst>
          </a:prstGeom>
          <a:solidFill>
            <a:srgbClr val="111B2E"/>
          </a:solidFill>
          <a:ln/>
        </p:spPr>
      </p:sp>
      <p:sp>
        <p:nvSpPr>
          <p:cNvPr id="5" name="Shape 3"/>
          <p:cNvSpPr/>
          <p:nvPr/>
        </p:nvSpPr>
        <p:spPr>
          <a:xfrm>
            <a:off x="731520" y="1371600"/>
            <a:ext cx="2423160" cy="36576"/>
          </a:xfrm>
          <a:prstGeom prst="rect">
            <a:avLst/>
          </a:prstGeom>
          <a:solidFill>
            <a:srgbClr val="3B82F6"/>
          </a:solidFill>
          <a:ln/>
        </p:spPr>
      </p:sp>
      <p:sp>
        <p:nvSpPr>
          <p:cNvPr id="6" name="Text 4"/>
          <p:cNvSpPr/>
          <p:nvPr/>
        </p:nvSpPr>
        <p:spPr>
          <a:xfrm>
            <a:off x="914400" y="1554480"/>
            <a:ext cx="457200" cy="365760"/>
          </a:xfrm>
          <a:prstGeom prst="rect">
            <a:avLst/>
          </a:prstGeom>
          <a:noFill/>
          <a:ln/>
        </p:spPr>
        <p:txBody>
          <a:bodyPr wrap="square" rtlCol="0" anchor="ctr"/>
          <a:lstStyle/>
          <a:p>
            <a:pPr indent="0" marL="0">
              <a:buNone/>
            </a:pPr>
            <a:r>
              <a:rPr lang="en-US" sz="2000" b="1" dirty="0">
                <a:solidFill>
                  <a:srgbClr val="3B82F6"/>
                </a:solidFill>
                <a:latin typeface="Courier New" pitchFamily="34" charset="0"/>
                <a:ea typeface="Courier New" pitchFamily="34" charset="-122"/>
                <a:cs typeface="Courier New" pitchFamily="34" charset="-120"/>
              </a:rPr>
              <a:t>01</a:t>
            </a:r>
            <a:endParaRPr lang="en-US" sz="2000" dirty="0"/>
          </a:p>
        </p:txBody>
      </p:sp>
      <p:sp>
        <p:nvSpPr>
          <p:cNvPr id="7" name="Text 5"/>
          <p:cNvSpPr/>
          <p:nvPr/>
        </p:nvSpPr>
        <p:spPr>
          <a:xfrm>
            <a:off x="91440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Growth Outpacing Regional Peers</a:t>
            </a:r>
            <a:endParaRPr lang="en-US" sz="1400" dirty="0"/>
          </a:p>
        </p:txBody>
      </p:sp>
      <p:sp>
        <p:nvSpPr>
          <p:cNvPr id="8" name="Text 6"/>
          <p:cNvSpPr/>
          <p:nvPr/>
        </p:nvSpPr>
        <p:spPr>
          <a:xfrm>
            <a:off x="91440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UAE vehicle registrations grew 12% YoY in 2023, significantly above the GCC average of 7%, supported by strong consumer confidence, government infrastructure spending, and the Emirate's role as a regional logistics and trade hub.</a:t>
            </a:r>
            <a:endParaRPr lang="en-US" sz="1100" dirty="0"/>
          </a:p>
        </p:txBody>
      </p:sp>
      <p:sp>
        <p:nvSpPr>
          <p:cNvPr id="9" name="Shape 7"/>
          <p:cNvSpPr/>
          <p:nvPr/>
        </p:nvSpPr>
        <p:spPr>
          <a:xfrm>
            <a:off x="3337560" y="1371600"/>
            <a:ext cx="2423160" cy="2926080"/>
          </a:xfrm>
          <a:prstGeom prst="rect">
            <a:avLst>
              <a:gd name="adj" fmla="val 3019"/>
            </a:avLst>
          </a:prstGeom>
          <a:solidFill>
            <a:srgbClr val="111B2E"/>
          </a:solidFill>
          <a:ln/>
        </p:spPr>
      </p:sp>
      <p:sp>
        <p:nvSpPr>
          <p:cNvPr id="10" name="Shape 8"/>
          <p:cNvSpPr/>
          <p:nvPr/>
        </p:nvSpPr>
        <p:spPr>
          <a:xfrm>
            <a:off x="3337560" y="1371600"/>
            <a:ext cx="2423160" cy="36576"/>
          </a:xfrm>
          <a:prstGeom prst="rect">
            <a:avLst/>
          </a:prstGeom>
          <a:solidFill>
            <a:srgbClr val="F59E0B"/>
          </a:solidFill>
          <a:ln/>
        </p:spPr>
      </p:sp>
      <p:sp>
        <p:nvSpPr>
          <p:cNvPr id="11" name="Text 9"/>
          <p:cNvSpPr/>
          <p:nvPr/>
        </p:nvSpPr>
        <p:spPr>
          <a:xfrm>
            <a:off x="3520440" y="1554480"/>
            <a:ext cx="457200" cy="365760"/>
          </a:xfrm>
          <a:prstGeom prst="rect">
            <a:avLst/>
          </a:prstGeom>
          <a:noFill/>
          <a:ln/>
        </p:spPr>
        <p:txBody>
          <a:bodyPr wrap="square" rtlCol="0" anchor="ctr"/>
          <a:lstStyle/>
          <a:p>
            <a:pPr indent="0" marL="0">
              <a:buNone/>
            </a:pPr>
            <a:r>
              <a:rPr lang="en-US" sz="2000" b="1" dirty="0">
                <a:solidFill>
                  <a:srgbClr val="F59E0B"/>
                </a:solidFill>
                <a:latin typeface="Courier New" pitchFamily="34" charset="0"/>
                <a:ea typeface="Courier New" pitchFamily="34" charset="-122"/>
                <a:cs typeface="Courier New" pitchFamily="34" charset="-120"/>
              </a:rPr>
              <a:t>02</a:t>
            </a:r>
            <a:endParaRPr lang="en-US" sz="2000" dirty="0"/>
          </a:p>
        </p:txBody>
      </p:sp>
      <p:sp>
        <p:nvSpPr>
          <p:cNvPr id="12" name="Text 10"/>
          <p:cNvSpPr/>
          <p:nvPr/>
        </p:nvSpPr>
        <p:spPr>
          <a:xfrm>
            <a:off x="352044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Supply Chain Disruption Driving Cost Inflation</a:t>
            </a:r>
            <a:endParaRPr lang="en-US" sz="1400" dirty="0"/>
          </a:p>
        </p:txBody>
      </p:sp>
      <p:sp>
        <p:nvSpPr>
          <p:cNvPr id="13" name="Text 11"/>
          <p:cNvSpPr/>
          <p:nvPr/>
        </p:nvSpPr>
        <p:spPr>
          <a:xfrm>
            <a:off x="352044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Semiconductor constraints and Red Sea shipping disruptions have extended vehicle procurement lead times by 8-12 weeks and increased acquisition costs by 15-20%, forcing dealers to absorb margin compression or pass costs to price-sensitive consumers.</a:t>
            </a:r>
            <a:endParaRPr lang="en-US" sz="1100" dirty="0"/>
          </a:p>
        </p:txBody>
      </p:sp>
      <p:sp>
        <p:nvSpPr>
          <p:cNvPr id="14" name="Shape 12"/>
          <p:cNvSpPr/>
          <p:nvPr/>
        </p:nvSpPr>
        <p:spPr>
          <a:xfrm>
            <a:off x="5943600" y="1371600"/>
            <a:ext cx="2423160" cy="2926080"/>
          </a:xfrm>
          <a:prstGeom prst="rect">
            <a:avLst>
              <a:gd name="adj" fmla="val 3019"/>
            </a:avLst>
          </a:prstGeom>
          <a:solidFill>
            <a:srgbClr val="111B2E"/>
          </a:solidFill>
          <a:ln/>
        </p:spPr>
      </p:sp>
      <p:sp>
        <p:nvSpPr>
          <p:cNvPr id="15" name="Shape 13"/>
          <p:cNvSpPr/>
          <p:nvPr/>
        </p:nvSpPr>
        <p:spPr>
          <a:xfrm>
            <a:off x="5943600" y="1371600"/>
            <a:ext cx="2423160" cy="36576"/>
          </a:xfrm>
          <a:prstGeom prst="rect">
            <a:avLst/>
          </a:prstGeom>
          <a:solidFill>
            <a:srgbClr val="10B981"/>
          </a:solidFill>
          <a:ln/>
        </p:spPr>
      </p:sp>
      <p:sp>
        <p:nvSpPr>
          <p:cNvPr id="16" name="Text 14"/>
          <p:cNvSpPr/>
          <p:nvPr/>
        </p:nvSpPr>
        <p:spPr>
          <a:xfrm>
            <a:off x="6126480" y="1554480"/>
            <a:ext cx="457200" cy="365760"/>
          </a:xfrm>
          <a:prstGeom prst="rect">
            <a:avLst/>
          </a:prstGeom>
          <a:noFill/>
          <a:ln/>
        </p:spPr>
        <p:txBody>
          <a:bodyPr wrap="square" rtlCol="0" anchor="ctr"/>
          <a:lstStyle/>
          <a:p>
            <a:pPr indent="0" marL="0">
              <a:buNone/>
            </a:pPr>
            <a:r>
              <a:rPr lang="en-US" sz="2000" b="1" dirty="0">
                <a:solidFill>
                  <a:srgbClr val="10B981"/>
                </a:solidFill>
                <a:latin typeface="Courier New" pitchFamily="34" charset="0"/>
                <a:ea typeface="Courier New" pitchFamily="34" charset="-122"/>
                <a:cs typeface="Courier New" pitchFamily="34" charset="-120"/>
              </a:rPr>
              <a:t>03</a:t>
            </a:r>
            <a:endParaRPr lang="en-US" sz="2000" dirty="0"/>
          </a:p>
        </p:txBody>
      </p:sp>
      <p:sp>
        <p:nvSpPr>
          <p:cNvPr id="17" name="Text 15"/>
          <p:cNvSpPr/>
          <p:nvPr/>
        </p:nvSpPr>
        <p:spPr>
          <a:xfrm>
            <a:off x="612648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EV Adoption Accelerating from Low Base</a:t>
            </a:r>
            <a:endParaRPr lang="en-US" sz="1400" dirty="0"/>
          </a:p>
        </p:txBody>
      </p:sp>
      <p:sp>
        <p:nvSpPr>
          <p:cNvPr id="18" name="Text 16"/>
          <p:cNvSpPr/>
          <p:nvPr/>
        </p:nvSpPr>
        <p:spPr>
          <a:xfrm>
            <a:off x="612648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EV registrations surged 185% in 2023, but remain under 8% of total sales; government incentives, expanding charging networks, and new affordable model launches are expected to drive EV penetration to 20% by 2027.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F59E0B"/>
                </a:solidFill>
                <a:latin typeface="Helvetica Neue" pitchFamily="34" charset="0"/>
                <a:ea typeface="Helvetica Neue" pitchFamily="34" charset="-122"/>
                <a:cs typeface="Helvetica Neue" pitchFamily="34" charset="-120"/>
              </a:rPr>
              <a:t>RECOMMENDATIONS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Actions Required</a:t>
            </a:r>
            <a:endParaRPr lang="en-US" sz="2200" dirty="0"/>
          </a:p>
        </p:txBody>
      </p:sp>
      <p:sp>
        <p:nvSpPr>
          <p:cNvPr id="4" name="Shape 2"/>
          <p:cNvSpPr/>
          <p:nvPr/>
        </p:nvSpPr>
        <p:spPr>
          <a:xfrm>
            <a:off x="731520" y="1435608"/>
            <a:ext cx="320040" cy="320040"/>
          </a:xfrm>
          <a:prstGeom prst="rect">
            <a:avLst>
              <a:gd name="adj" fmla="val 11429"/>
            </a:avLst>
          </a:prstGeom>
          <a:solidFill>
            <a:srgbClr val="EF4444"/>
          </a:solidFill>
          <a:ln/>
        </p:spPr>
      </p:sp>
      <p:sp>
        <p:nvSpPr>
          <p:cNvPr id="5" name="Text 3"/>
          <p:cNvSpPr/>
          <p:nvPr/>
        </p:nvSpPr>
        <p:spPr>
          <a:xfrm>
            <a:off x="731520" y="14356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6" name="Text 4"/>
          <p:cNvSpPr/>
          <p:nvPr/>
        </p:nvSpPr>
        <p:spPr>
          <a:xfrm>
            <a:off x="1234440" y="13716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Establish regional supply chain partnerships in Saudi Arabia and India to reduce lead time exposure by 30% and mitigate geopolitical shipping vulnerabilities.</a:t>
            </a:r>
            <a:endParaRPr lang="en-US" sz="1300" dirty="0"/>
          </a:p>
        </p:txBody>
      </p:sp>
      <p:sp>
        <p:nvSpPr>
          <p:cNvPr id="7" name="Shape 5"/>
          <p:cNvSpPr/>
          <p:nvPr/>
        </p:nvSpPr>
        <p:spPr>
          <a:xfrm>
            <a:off x="1234440" y="1920240"/>
            <a:ext cx="7178040" cy="9144"/>
          </a:xfrm>
          <a:prstGeom prst="rect">
            <a:avLst/>
          </a:prstGeom>
          <a:solidFill>
            <a:srgbClr val="1E293B"/>
          </a:solidFill>
          <a:ln/>
        </p:spPr>
      </p:sp>
      <p:sp>
        <p:nvSpPr>
          <p:cNvPr id="8" name="Shape 6"/>
          <p:cNvSpPr/>
          <p:nvPr/>
        </p:nvSpPr>
        <p:spPr>
          <a:xfrm>
            <a:off x="731520" y="2121408"/>
            <a:ext cx="320040" cy="320040"/>
          </a:xfrm>
          <a:prstGeom prst="rect">
            <a:avLst>
              <a:gd name="adj" fmla="val 11429"/>
            </a:avLst>
          </a:prstGeom>
          <a:solidFill>
            <a:srgbClr val="F59E0B"/>
          </a:solidFill>
          <a:ln/>
        </p:spPr>
      </p:sp>
      <p:sp>
        <p:nvSpPr>
          <p:cNvPr id="9" name="Text 7"/>
          <p:cNvSpPr/>
          <p:nvPr/>
        </p:nvSpPr>
        <p:spPr>
          <a:xfrm>
            <a:off x="731520" y="21214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0" name="Text 8"/>
          <p:cNvSpPr/>
          <p:nvPr/>
        </p:nvSpPr>
        <p:spPr>
          <a:xfrm>
            <a:off x="1234440" y="20574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Accelerate EV infrastructure investment and technician training programs to achieve a 25% EV portfolio mix by 2026, positioning for regulatory compliance and green financing advantages.</a:t>
            </a:r>
            <a:endParaRPr lang="en-US" sz="1300" dirty="0"/>
          </a:p>
        </p:txBody>
      </p:sp>
      <p:sp>
        <p:nvSpPr>
          <p:cNvPr id="11" name="Shape 9"/>
          <p:cNvSpPr/>
          <p:nvPr/>
        </p:nvSpPr>
        <p:spPr>
          <a:xfrm>
            <a:off x="1234440" y="2606040"/>
            <a:ext cx="7178040" cy="9144"/>
          </a:xfrm>
          <a:prstGeom prst="rect">
            <a:avLst/>
          </a:prstGeom>
          <a:solidFill>
            <a:srgbClr val="1E293B"/>
          </a:solidFill>
          <a:ln/>
        </p:spPr>
      </p:sp>
      <p:sp>
        <p:nvSpPr>
          <p:cNvPr id="12" name="Shape 10"/>
          <p:cNvSpPr/>
          <p:nvPr/>
        </p:nvSpPr>
        <p:spPr>
          <a:xfrm>
            <a:off x="731520" y="2807208"/>
            <a:ext cx="320040" cy="320040"/>
          </a:xfrm>
          <a:prstGeom prst="rect">
            <a:avLst>
              <a:gd name="adj" fmla="val 11429"/>
            </a:avLst>
          </a:prstGeom>
          <a:solidFill>
            <a:srgbClr val="3B82F6"/>
          </a:solidFill>
          <a:ln/>
        </p:spPr>
      </p:sp>
      <p:sp>
        <p:nvSpPr>
          <p:cNvPr id="13" name="Text 11"/>
          <p:cNvSpPr/>
          <p:nvPr/>
        </p:nvSpPr>
        <p:spPr>
          <a:xfrm>
            <a:off x="731520" y="28072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4" name="Text 12"/>
          <p:cNvSpPr/>
          <p:nvPr/>
        </p:nvSpPr>
        <p:spPr>
          <a:xfrm>
            <a:off x="1234440" y="27432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Implement flexible, subscription-based mobility and dynamic financing models to address consumer cost sensitivity while maintaining sales volume and market share.</a:t>
            </a:r>
            <a:endParaRPr lang="en-US" sz="1300" dirty="0"/>
          </a:p>
        </p:txBody>
      </p:sp>
      <p:sp>
        <p:nvSpPr>
          <p:cNvPr id="15" name="Shape 13"/>
          <p:cNvSpPr/>
          <p:nvPr/>
        </p:nvSpPr>
        <p:spPr>
          <a:xfrm>
            <a:off x="1234440" y="3291840"/>
            <a:ext cx="7178040" cy="9144"/>
          </a:xfrm>
          <a:prstGeom prst="rect">
            <a:avLst/>
          </a:prstGeom>
          <a:solidFill>
            <a:srgbClr val="1E293B"/>
          </a:solidFill>
          <a:ln/>
        </p:spPr>
      </p:sp>
      <p:sp>
        <p:nvSpPr>
          <p:cNvPr id="16" name="Shape 14"/>
          <p:cNvSpPr/>
          <p:nvPr/>
        </p:nvSpPr>
        <p:spPr>
          <a:xfrm>
            <a:off x="731520" y="3493008"/>
            <a:ext cx="320040" cy="320040"/>
          </a:xfrm>
          <a:prstGeom prst="rect">
            <a:avLst>
              <a:gd name="adj" fmla="val 11429"/>
            </a:avLst>
          </a:prstGeom>
          <a:solidFill>
            <a:srgbClr val="10B981"/>
          </a:solidFill>
          <a:ln/>
        </p:spPr>
      </p:sp>
      <p:sp>
        <p:nvSpPr>
          <p:cNvPr id="17" name="Text 15"/>
          <p:cNvSpPr/>
          <p:nvPr/>
        </p:nvSpPr>
        <p:spPr>
          <a:xfrm>
            <a:off x="731520" y="34930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234440" y="34290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Proactively engage with UAE regulatory authorities on upcoming emissions and carbon pricing frameworks to ensure early compliance and secure first-mover competitive advantage.</a:t>
            </a:r>
            <a:endParaRPr lang="en-US" sz="1300" dirty="0"/>
          </a:p>
        </p:txBody>
      </p:sp>
      <p:sp>
        <p:nvSpPr>
          <p:cNvPr id="19" name="Shape 17"/>
          <p:cNvSpPr/>
          <p:nvPr/>
        </p:nvSpPr>
        <p:spPr>
          <a:xfrm>
            <a:off x="1234440" y="3977640"/>
            <a:ext cx="7178040" cy="9144"/>
          </a:xfrm>
          <a:prstGeom prst="rect">
            <a:avLst/>
          </a:prstGeom>
          <a:solidFill>
            <a:srgbClr val="1E293B"/>
          </a:solidFill>
          <a:ln/>
        </p:spPr>
      </p:sp>
      <p:sp>
        <p:nvSpPr>
          <p:cNvPr id="20" name="Shape 18"/>
          <p:cNvSpPr/>
          <p:nvPr/>
        </p:nvSpPr>
        <p:spPr>
          <a:xfrm>
            <a:off x="731520" y="4178808"/>
            <a:ext cx="320040" cy="320040"/>
          </a:xfrm>
          <a:prstGeom prst="rect">
            <a:avLst>
              <a:gd name="adj" fmla="val 11429"/>
            </a:avLst>
          </a:prstGeom>
          <a:solidFill>
            <a:srgbClr val="94A3B8"/>
          </a:solidFill>
          <a:ln/>
        </p:spPr>
      </p:sp>
      <p:sp>
        <p:nvSpPr>
          <p:cNvPr id="21" name="Text 19"/>
          <p:cNvSpPr/>
          <p:nvPr/>
        </p:nvSpPr>
        <p:spPr>
          <a:xfrm>
            <a:off x="731520" y="41788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2" name="Text 20"/>
          <p:cNvSpPr/>
          <p:nvPr/>
        </p:nvSpPr>
        <p:spPr>
          <a:xfrm>
            <a:off x="1234440" y="41148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Deploy data-driven customer segmentation and localized marketing strategies to strengthen brand loyalty and optimize pricing in an increasingly competitive retail environment.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371600"/>
            <a:ext cx="7680960" cy="457200"/>
          </a:xfrm>
          <a:prstGeom prst="rect">
            <a:avLst/>
          </a:prstGeom>
          <a:noFill/>
          <a:ln/>
        </p:spPr>
        <p:txBody>
          <a:bodyPr wrap="square" rtlCol="0" anchor="ctr"/>
          <a:lstStyle/>
          <a:p>
            <a:pPr algn="ctr" indent="0" marL="0">
              <a:buNone/>
            </a:pPr>
            <a:r>
              <a:rPr lang="en-US" sz="2800" b="1" dirty="0">
                <a:solidFill>
                  <a:srgbClr val="FFFFFF"/>
                </a:solidFill>
                <a:latin typeface="Helvetica Neue" pitchFamily="34" charset="0"/>
                <a:ea typeface="Helvetica Neue" pitchFamily="34" charset="-122"/>
                <a:cs typeface="Helvetica Neue" pitchFamily="34" charset="-120"/>
              </a:rPr>
              <a:t>NEXT STEPS</a:t>
            </a:r>
            <a:endParaRPr lang="en-US" sz="2800" dirty="0"/>
          </a:p>
        </p:txBody>
      </p:sp>
      <p:sp>
        <p:nvSpPr>
          <p:cNvPr id="4" name="Text 2"/>
          <p:cNvSpPr/>
          <p:nvPr/>
        </p:nvSpPr>
        <p:spPr>
          <a:xfrm>
            <a:off x="1371600" y="2011680"/>
            <a:ext cx="6400800" cy="548640"/>
          </a:xfrm>
          <a:prstGeom prst="rect">
            <a:avLst/>
          </a:prstGeom>
          <a:noFill/>
          <a:ln/>
        </p:spPr>
        <p:txBody>
          <a:bodyPr wrap="square" rtlCol="0" anchor="ctr"/>
          <a:lstStyle/>
          <a:p>
            <a:pPr algn="ctr" indent="0" marL="0">
              <a:buNone/>
            </a:pPr>
            <a:r>
              <a:rPr lang="en-US" sz="1400" dirty="0">
                <a:solidFill>
                  <a:srgbClr val="94A3B8"/>
                </a:solidFill>
                <a:latin typeface="Helvetica Neue" pitchFamily="34" charset="0"/>
                <a:ea typeface="Helvetica Neue" pitchFamily="34" charset="-122"/>
                <a:cs typeface="Helvetica Neue" pitchFamily="34" charset="-120"/>
              </a:rPr>
              <a:t>We recommend proceeding with the actions outlined above.</a:t>
            </a:r>
            <a:endParaRPr lang="en-US" sz="1400" dirty="0"/>
          </a:p>
        </p:txBody>
      </p:sp>
      <p:sp>
        <p:nvSpPr>
          <p:cNvPr id="5" name="Text 3"/>
          <p:cNvSpPr/>
          <p:nvPr/>
        </p:nvSpPr>
        <p:spPr>
          <a:xfrm>
            <a:off x="1828800" y="28346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1.  Conduct comprehensive supply chain risk assessment and identify regional sourcing partners by Q3 2024.</a:t>
            </a:r>
            <a:endParaRPr lang="en-US" sz="1300" dirty="0"/>
          </a:p>
        </p:txBody>
      </p:sp>
      <p:sp>
        <p:nvSpPr>
          <p:cNvPr id="6" name="Text 4"/>
          <p:cNvSpPr/>
          <p:nvPr/>
        </p:nvSpPr>
        <p:spPr>
          <a:xfrm>
            <a:off x="1828800" y="32918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2.  Develop EV readiness roadmap including charging infrastructure rollout and workforce training timelines by Q4 2024.</a:t>
            </a:r>
            <a:endParaRPr lang="en-US" sz="1300" dirty="0"/>
          </a:p>
        </p:txBody>
      </p:sp>
      <p:sp>
        <p:nvSpPr>
          <p:cNvPr id="7" name="Text 5"/>
          <p:cNvSpPr/>
          <p:nvPr/>
        </p:nvSpPr>
        <p:spPr>
          <a:xfrm>
            <a:off x="1828800" y="37490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3.  Pilot subscription-based mobility service offering in Dubai and Abu Dhabi markets in Q1 2025.</a:t>
            </a:r>
            <a:endParaRPr lang="en-US" sz="1300" dirty="0"/>
          </a:p>
        </p:txBody>
      </p:sp>
      <p:sp>
        <p:nvSpPr>
          <p:cNvPr id="8" name="Text 6"/>
          <p:cNvSpPr/>
          <p:nvPr/>
        </p:nvSpPr>
        <p:spPr>
          <a:xfrm>
            <a:off x="1828800" y="42062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4.  Establish cross-functional regulatory affairs task force to monitor and influence upcoming emissions and carbon pricing legislation.</a:t>
            </a:r>
            <a:endParaRPr lang="en-US" sz="1300" dirty="0"/>
          </a:p>
        </p:txBody>
      </p:sp>
      <p:sp>
        <p:nvSpPr>
          <p:cNvPr id="9" name="Text 7"/>
          <p:cNvSpPr/>
          <p:nvPr/>
        </p:nvSpPr>
        <p:spPr>
          <a:xfrm>
            <a:off x="731520" y="4572000"/>
            <a:ext cx="7680960" cy="274320"/>
          </a:xfrm>
          <a:prstGeom prst="rect">
            <a:avLst/>
          </a:prstGeom>
          <a:noFill/>
          <a:ln/>
        </p:spPr>
        <p:txBody>
          <a:bodyPr wrap="square" rtlCol="0" anchor="ctr"/>
          <a:lstStyle/>
          <a:p>
            <a:pPr algn="ctr"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UAE Automotive Market Risks 2024-2026</dc:title>
  <dc:subject>SCR Strategic Presentation</dc:subject>
  <dc:creator>CSO Strategic Intelligence Assistant</dc:creator>
  <cp:lastModifiedBy>CSO Strategic Intelligence Assistant</cp:lastModifiedBy>
  <cp:revision>1</cp:revision>
  <dcterms:created xsi:type="dcterms:W3CDTF">2026-06-08T21:58:56Z</dcterms:created>
  <dcterms:modified xsi:type="dcterms:W3CDTF">2026-06-08T21:58:56Z</dcterms:modified>
</cp:coreProperties>
</file>