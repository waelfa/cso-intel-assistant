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645920"/>
            <a:ext cx="7680960" cy="1097280"/>
          </a:xfrm>
          <a:prstGeom prst="rect">
            <a:avLst/>
          </a:prstGeom>
          <a:noFill/>
          <a:ln/>
        </p:spPr>
        <p:txBody>
          <a:bodyPr wrap="square" rtlCol="0" anchor="ctr"/>
          <a:lstStyle/>
          <a:p>
            <a:pPr algn="l" indent="0" marL="0">
              <a:buNone/>
            </a:pPr>
            <a:r>
              <a:rPr lang="en-US" sz="3200" b="1" dirty="0">
                <a:solidFill>
                  <a:srgbClr val="FFFFFF"/>
                </a:solidFill>
                <a:latin typeface="Helvetica Neue" pitchFamily="34" charset="0"/>
                <a:ea typeface="Helvetica Neue" pitchFamily="34" charset="-122"/>
                <a:cs typeface="Helvetica Neue" pitchFamily="34" charset="-120"/>
              </a:rPr>
              <a:t>GCC Capital Flows &amp; Investment Trends</a:t>
            </a:r>
            <a:endParaRPr lang="en-US" sz="3200" dirty="0"/>
          </a:p>
        </p:txBody>
      </p:sp>
      <p:sp>
        <p:nvSpPr>
          <p:cNvPr id="4" name="Text 2"/>
          <p:cNvSpPr/>
          <p:nvPr/>
        </p:nvSpPr>
        <p:spPr>
          <a:xfrm>
            <a:off x="731520" y="2743200"/>
            <a:ext cx="7680960" cy="548640"/>
          </a:xfrm>
          <a:prstGeom prst="rect">
            <a:avLst/>
          </a:prstGeom>
          <a:noFill/>
          <a:ln/>
        </p:spPr>
        <p:txBody>
          <a:bodyPr wrap="square" rtlCol="0" anchor="ctr"/>
          <a:lstStyle/>
          <a:p>
            <a:pPr algn="l" indent="0" marL="0">
              <a:buNone/>
            </a:pPr>
            <a:r>
              <a:rPr lang="en-US" sz="1600" dirty="0">
                <a:solidFill>
                  <a:srgbClr val="94A3B8"/>
                </a:solidFill>
                <a:latin typeface="Helvetica Neue" pitchFamily="34" charset="0"/>
                <a:ea typeface="Helvetica Neue" pitchFamily="34" charset="-122"/>
                <a:cs typeface="Helvetica Neue" pitchFamily="34" charset="-120"/>
              </a:rPr>
              <a:t>Executive Summary &amp; Recommendations</a:t>
            </a:r>
            <a:endParaRPr lang="en-US" sz="1600" dirty="0"/>
          </a:p>
        </p:txBody>
      </p:sp>
      <p:sp>
        <p:nvSpPr>
          <p:cNvPr id="5" name="Shape 3"/>
          <p:cNvSpPr/>
          <p:nvPr/>
        </p:nvSpPr>
        <p:spPr>
          <a:xfrm>
            <a:off x="731520" y="3474720"/>
            <a:ext cx="2286000" cy="27432"/>
          </a:xfrm>
          <a:prstGeom prst="rect">
            <a:avLst/>
          </a:prstGeom>
          <a:solidFill>
            <a:srgbClr val="3B82F6"/>
          </a:solidFill>
          <a:ln/>
        </p:spPr>
      </p:sp>
      <p:sp>
        <p:nvSpPr>
          <p:cNvPr id="6" name="Text 4"/>
          <p:cNvSpPr/>
          <p:nvPr/>
        </p:nvSpPr>
        <p:spPr>
          <a:xfrm>
            <a:off x="731520" y="3749040"/>
            <a:ext cx="7680960" cy="365760"/>
          </a:xfrm>
          <a:prstGeom prst="rect">
            <a:avLst/>
          </a:prstGeom>
          <a:noFill/>
          <a:ln/>
        </p:spPr>
        <p:txBody>
          <a:bodyPr wrap="square" rtlCol="0" anchor="ctr"/>
          <a:lstStyle/>
          <a:p>
            <a:pPr algn="l" indent="0" marL="0">
              <a:buNone/>
            </a:pPr>
            <a:r>
              <a:rPr lang="en-US" sz="1200" dirty="0">
                <a:solidFill>
                  <a:srgbClr val="94A3B8"/>
                </a:solidFill>
                <a:latin typeface="Helvetica Neue" pitchFamily="34" charset="0"/>
                <a:ea typeface="Helvetica Neue" pitchFamily="34" charset="-122"/>
                <a:cs typeface="Helvetica Neue" pitchFamily="34" charset="-120"/>
              </a:rPr>
              <a:t>June 8, 2026  •  CSO Office</a:t>
            </a:r>
            <a:endParaRPr lang="en-US" sz="1200" dirty="0"/>
          </a:p>
        </p:txBody>
      </p:sp>
      <p:sp>
        <p:nvSpPr>
          <p:cNvPr id="7" name="Text 5"/>
          <p:cNvSpPr/>
          <p:nvPr/>
        </p:nvSpPr>
        <p:spPr>
          <a:xfrm>
            <a:off x="731520" y="4572000"/>
            <a:ext cx="7680960" cy="274320"/>
          </a:xfrm>
          <a:prstGeom prst="rect">
            <a:avLst/>
          </a:prstGeom>
          <a:noFill/>
          <a:ln/>
        </p:spPr>
        <p:txBody>
          <a:bodyPr wrap="square" rtlCol="0" anchor="ctr"/>
          <a:lstStyle/>
          <a:p>
            <a:pPr algn="l"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457200"/>
            <a:ext cx="2743200" cy="457200"/>
          </a:xfrm>
          <a:prstGeom prst="rect">
            <a:avLst/>
          </a:prstGeom>
          <a:noFill/>
          <a:ln/>
        </p:spPr>
        <p:txBody>
          <a:bodyPr wrap="square" rtlCol="0" anchor="ctr"/>
          <a:lstStyle/>
          <a:p>
            <a:pPr indent="0" marL="0">
              <a:buNone/>
            </a:pPr>
            <a:r>
              <a:rPr lang="en-US" sz="1100" b="1" spc="300" kern="0" dirty="0">
                <a:solidFill>
                  <a:srgbClr val="3B82F6"/>
                </a:solidFill>
                <a:latin typeface="Helvetica Neue" pitchFamily="34" charset="0"/>
                <a:ea typeface="Helvetica Neue" pitchFamily="34" charset="-122"/>
                <a:cs typeface="Helvetica Neue" pitchFamily="34" charset="-120"/>
              </a:rPr>
              <a:t>AGENDA</a:t>
            </a:r>
            <a:endParaRPr lang="en-US" sz="1100" dirty="0"/>
          </a:p>
        </p:txBody>
      </p:sp>
      <p:sp>
        <p:nvSpPr>
          <p:cNvPr id="3" name="Text 1"/>
          <p:cNvSpPr/>
          <p:nvPr/>
        </p:nvSpPr>
        <p:spPr>
          <a:xfrm>
            <a:off x="731520" y="12801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01</a:t>
            </a:r>
            <a:endParaRPr lang="en-US" sz="1400" dirty="0"/>
          </a:p>
        </p:txBody>
      </p:sp>
      <p:sp>
        <p:nvSpPr>
          <p:cNvPr id="4" name="Text 2"/>
          <p:cNvSpPr/>
          <p:nvPr/>
        </p:nvSpPr>
        <p:spPr>
          <a:xfrm>
            <a:off x="1463040" y="12801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Executive Overview: GCC Capital Dynamics</a:t>
            </a:r>
            <a:endParaRPr lang="en-US" sz="1600" dirty="0"/>
          </a:p>
        </p:txBody>
      </p:sp>
      <p:sp>
        <p:nvSpPr>
          <p:cNvPr id="5" name="Shape 3"/>
          <p:cNvSpPr/>
          <p:nvPr/>
        </p:nvSpPr>
        <p:spPr>
          <a:xfrm>
            <a:off x="1463040" y="1783080"/>
            <a:ext cx="6766560" cy="9144"/>
          </a:xfrm>
          <a:prstGeom prst="rect">
            <a:avLst/>
          </a:prstGeom>
          <a:solidFill>
            <a:srgbClr val="1E293B"/>
          </a:solidFill>
          <a:ln/>
        </p:spPr>
      </p:sp>
      <p:sp>
        <p:nvSpPr>
          <p:cNvPr id="6" name="Text 4"/>
          <p:cNvSpPr/>
          <p:nvPr/>
        </p:nvSpPr>
        <p:spPr>
          <a:xfrm>
            <a:off x="731520" y="192024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02</a:t>
            </a:r>
            <a:endParaRPr lang="en-US" sz="1400" dirty="0"/>
          </a:p>
        </p:txBody>
      </p:sp>
      <p:sp>
        <p:nvSpPr>
          <p:cNvPr id="7" name="Text 5"/>
          <p:cNvSpPr/>
          <p:nvPr/>
        </p:nvSpPr>
        <p:spPr>
          <a:xfrm>
            <a:off x="1463040" y="192024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Key Investment Trends &amp; Capital Allocation</a:t>
            </a:r>
            <a:endParaRPr lang="en-US" sz="1600" dirty="0"/>
          </a:p>
        </p:txBody>
      </p:sp>
      <p:sp>
        <p:nvSpPr>
          <p:cNvPr id="8" name="Shape 6"/>
          <p:cNvSpPr/>
          <p:nvPr/>
        </p:nvSpPr>
        <p:spPr>
          <a:xfrm>
            <a:off x="1463040" y="2423160"/>
            <a:ext cx="6766560" cy="9144"/>
          </a:xfrm>
          <a:prstGeom prst="rect">
            <a:avLst/>
          </a:prstGeom>
          <a:solidFill>
            <a:srgbClr val="1E293B"/>
          </a:solidFill>
          <a:ln/>
        </p:spPr>
      </p:sp>
      <p:sp>
        <p:nvSpPr>
          <p:cNvPr id="9" name="Text 7"/>
          <p:cNvSpPr/>
          <p:nvPr/>
        </p:nvSpPr>
        <p:spPr>
          <a:xfrm>
            <a:off x="731520" y="256032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03</a:t>
            </a:r>
            <a:endParaRPr lang="en-US" sz="1400" dirty="0"/>
          </a:p>
        </p:txBody>
      </p:sp>
      <p:sp>
        <p:nvSpPr>
          <p:cNvPr id="10" name="Text 8"/>
          <p:cNvSpPr/>
          <p:nvPr/>
        </p:nvSpPr>
        <p:spPr>
          <a:xfrm>
            <a:off x="1463040" y="256032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Strategic Imperatives for the IFC</a:t>
            </a:r>
            <a:endParaRPr lang="en-US" sz="1600" dirty="0"/>
          </a:p>
        </p:txBody>
      </p:sp>
      <p:sp>
        <p:nvSpPr>
          <p:cNvPr id="11" name="Shape 9"/>
          <p:cNvSpPr/>
          <p:nvPr/>
        </p:nvSpPr>
        <p:spPr>
          <a:xfrm>
            <a:off x="1463040" y="3063240"/>
            <a:ext cx="6766560" cy="9144"/>
          </a:xfrm>
          <a:prstGeom prst="rect">
            <a:avLst/>
          </a:prstGeom>
          <a:solidFill>
            <a:srgbClr val="1E293B"/>
          </a:solidFill>
          <a:ln/>
        </p:spPr>
      </p:sp>
      <p:sp>
        <p:nvSpPr>
          <p:cNvPr id="12" name="Text 10"/>
          <p:cNvSpPr/>
          <p:nvPr/>
        </p:nvSpPr>
        <p:spPr>
          <a:xfrm>
            <a:off x="731520" y="320040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04</a:t>
            </a:r>
            <a:endParaRPr lang="en-US" sz="1400" dirty="0"/>
          </a:p>
        </p:txBody>
      </p:sp>
      <p:sp>
        <p:nvSpPr>
          <p:cNvPr id="13" name="Text 11"/>
          <p:cNvSpPr/>
          <p:nvPr/>
        </p:nvSpPr>
        <p:spPr>
          <a:xfrm>
            <a:off x="1463040" y="320040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Implementation Roadmap &amp; Governance</a:t>
            </a:r>
            <a:endParaRPr lang="en-US" sz="1600" dirty="0"/>
          </a:p>
        </p:txBody>
      </p:sp>
      <p:sp>
        <p:nvSpPr>
          <p:cNvPr id="14" name="Shape 12"/>
          <p:cNvSpPr/>
          <p:nvPr/>
        </p:nvSpPr>
        <p:spPr>
          <a:xfrm>
            <a:off x="1463040" y="3703320"/>
            <a:ext cx="6766560" cy="9144"/>
          </a:xfrm>
          <a:prstGeom prst="rect">
            <a:avLst/>
          </a:prstGeom>
          <a:solidFill>
            <a:srgbClr val="1E293B"/>
          </a:solidFill>
          <a:ln/>
        </p:spPr>
      </p:sp>
      <p:sp>
        <p:nvSpPr>
          <p:cNvPr id="15" name="Text 13"/>
          <p:cNvSpPr/>
          <p:nvPr/>
        </p:nvSpPr>
        <p:spPr>
          <a:xfrm>
            <a:off x="731520" y="384048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05</a:t>
            </a:r>
            <a:endParaRPr lang="en-US" sz="1400" dirty="0"/>
          </a:p>
        </p:txBody>
      </p:sp>
      <p:sp>
        <p:nvSpPr>
          <p:cNvPr id="16" name="Text 14"/>
          <p:cNvSpPr/>
          <p:nvPr/>
        </p:nvSpPr>
        <p:spPr>
          <a:xfrm>
            <a:off x="1463040" y="384048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Key Findings</a:t>
            </a:r>
            <a:endParaRPr lang="en-US" sz="1600" dirty="0"/>
          </a:p>
        </p:txBody>
      </p:sp>
      <p:sp>
        <p:nvSpPr>
          <p:cNvPr id="17" name="Shape 15"/>
          <p:cNvSpPr/>
          <p:nvPr/>
        </p:nvSpPr>
        <p:spPr>
          <a:xfrm>
            <a:off x="1463040" y="4343400"/>
            <a:ext cx="6766560" cy="9144"/>
          </a:xfrm>
          <a:prstGeom prst="rect">
            <a:avLst/>
          </a:prstGeom>
          <a:solidFill>
            <a:srgbClr val="1E293B"/>
          </a:solidFill>
          <a:ln/>
        </p:spPr>
      </p:sp>
      <p:sp>
        <p:nvSpPr>
          <p:cNvPr id="18" name="Text 16"/>
          <p:cNvSpPr/>
          <p:nvPr/>
        </p:nvSpPr>
        <p:spPr>
          <a:xfrm>
            <a:off x="731520" y="4480560"/>
            <a:ext cx="548640" cy="411480"/>
          </a:xfrm>
          <a:prstGeom prst="rect">
            <a:avLst/>
          </a:prstGeom>
          <a:noFill/>
          <a:ln/>
        </p:spPr>
        <p:txBody>
          <a:bodyPr wrap="square" rtlCol="0" anchor="ctr"/>
          <a:lstStyle/>
          <a:p>
            <a:pPr algn="l" indent="0" marL="0">
              <a:buNone/>
            </a:pPr>
            <a:r>
              <a:rPr lang="en-US" sz="1400" b="1" dirty="0">
                <a:solidFill>
                  <a:srgbClr val="3B82F6"/>
                </a:solidFill>
                <a:latin typeface="Courier New" pitchFamily="34" charset="0"/>
                <a:ea typeface="Courier New" pitchFamily="34" charset="-122"/>
                <a:cs typeface="Courier New" pitchFamily="34" charset="-120"/>
              </a:rPr>
              <a:t>06</a:t>
            </a:r>
            <a:endParaRPr lang="en-US" sz="1400" dirty="0"/>
          </a:p>
        </p:txBody>
      </p:sp>
      <p:sp>
        <p:nvSpPr>
          <p:cNvPr id="19" name="Text 17"/>
          <p:cNvSpPr/>
          <p:nvPr/>
        </p:nvSpPr>
        <p:spPr>
          <a:xfrm>
            <a:off x="1463040" y="4480560"/>
            <a:ext cx="6766560" cy="411480"/>
          </a:xfrm>
          <a:prstGeom prst="rect">
            <a:avLst/>
          </a:prstGeom>
          <a:noFill/>
          <a:ln/>
        </p:spPr>
        <p:txBody>
          <a:bodyPr wrap="square" rtlCol="0" anchor="ctr"/>
          <a:lstStyle/>
          <a:p>
            <a:pPr algn="l" indent="0" marL="0">
              <a:buNone/>
            </a:pPr>
            <a:r>
              <a:rPr lang="en-US" sz="1600" dirty="0">
                <a:solidFill>
                  <a:srgbClr val="FFFFFF"/>
                </a:solidFill>
                <a:latin typeface="Helvetica Neue" pitchFamily="34" charset="0"/>
                <a:ea typeface="Helvetica Neue" pitchFamily="34" charset="-122"/>
                <a:cs typeface="Helvetica Neue" pitchFamily="34" charset="-120"/>
              </a:rPr>
              <a:t>Recommendations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EXECUTIVE OVERVIEW</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Executive Overview: GCC Capital Dynamics</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GCC capital deployment has reached unprecedented scale and strategic sophistication, with regional sovereign wealth funds now managing $5.7 trillion in assets and aggressively pursuing cross-border opportunities while global deal volumes remain stagnant. The UAE's rise to #9 globally and #2 among emerging markets in the FDI Confidence Index underscores the region's growing resilience and attractiveness to international investment. These capital flows are increasingly concentrated in high-growth sectors such as fintech, green energy, and AI infrastructure, signaling a decisive shift from traditional hydrocarbon reliance toward diversified, knowledge-based economic engines.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ANALYSIS</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Key Investment Trends &amp; Capital Allocation</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Gulf sovereign wealth funds are executing a coordinated cross-border M&amp;A strategy that has significantly outpaced global stagnation, while family offices are systematically restructuring portfolios by reducing USD concentration and pivoting toward blue-chip equities and inflation-linked hard assets. Fintech has emerged as the dominant venture capital destination, capturing a record 58% share of MENA startup funding in 2025 and mobilizing $4.4 billion into digital payment and wealth technology platforms. Concurrently, green finance and AI compute deployment are accelerating, though both face distinct regulatory and geopolitical risk premiums that require sophisticated structuring and neutral jurisdictional positioning.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IMPLICATIONS</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Imperatives for the IFC</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To capture these accelerating capital flows, the IFC must establish a dedicated sovereign solutions desk offering both sharia-compliant and conventional structures tailored to complex SWF mandates across real assets and public markets. A fast-track fintech licensing regime integrated with an open banking regulatory sandbox will directly address sectoral capital demand while establishing jurisdictional leadership in digital financial innovation. Parallel development of green bond origination capabilities with an independent ESG verification platform, alongside multi-currency treasury products for family office diversification, will create a comprehensive value proposition for institutional and private capital alike.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36576"/>
          </a:xfrm>
          <a:prstGeom prst="rect">
            <a:avLst/>
          </a:prstGeom>
          <a:solidFill>
            <a:srgbClr val="3B82F6"/>
          </a:solidFill>
          <a:ln/>
        </p:spPr>
      </p:sp>
      <p:sp>
        <p:nvSpPr>
          <p:cNvPr id="3" name="Text 1"/>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SECTION 4</a:t>
            </a:r>
            <a:endParaRPr lang="en-US" sz="1000" dirty="0"/>
          </a:p>
        </p:txBody>
      </p:sp>
      <p:sp>
        <p:nvSpPr>
          <p:cNvPr id="4" name="Text 2"/>
          <p:cNvSpPr/>
          <p:nvPr/>
        </p:nvSpPr>
        <p:spPr>
          <a:xfrm>
            <a:off x="731520" y="685800"/>
            <a:ext cx="7680960" cy="54864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Implementation Roadmap &amp; Governance</a:t>
            </a:r>
            <a:endParaRPr lang="en-US" sz="2200" dirty="0"/>
          </a:p>
        </p:txBody>
      </p:sp>
      <p:sp>
        <p:nvSpPr>
          <p:cNvPr id="5" name="Text 3"/>
          <p:cNvSpPr/>
          <p:nvPr/>
        </p:nvSpPr>
        <p:spPr>
          <a:xfrm>
            <a:off x="731520" y="1371600"/>
            <a:ext cx="7680960" cy="3474720"/>
          </a:xfrm>
          <a:prstGeom prst="rect">
            <a:avLst/>
          </a:prstGeom>
          <a:noFill/>
          <a:ln/>
        </p:spPr>
        <p:txBody>
          <a:bodyPr wrap="square" rtlCol="0" anchor="t"/>
          <a:lstStyle/>
          <a:p>
            <a:pPr indent="0" marL="0">
              <a:lnSpc>
                <a:spcPct val="140000"/>
              </a:lnSpc>
              <a:spcAft>
                <a:spcPts val="800"/>
              </a:spcAft>
              <a:buNone/>
            </a:pPr>
            <a:r>
              <a:rPr lang="en-US" sz="1300" dirty="0">
                <a:solidFill>
                  <a:srgbClr val="E2E8F0"/>
                </a:solidFill>
                <a:latin typeface="Helvetica Neue" pitchFamily="34" charset="0"/>
                <a:ea typeface="Helvetica Neue" pitchFamily="34" charset="-122"/>
                <a:cs typeface="Helvetica Neue" pitchFamily="34" charset="-120"/>
              </a:rPr>
              <a:t>Execution of this strategic initiative requires phased implementation beginning with the establishment of the sovereign solutions desk and deployment of the fintech regulatory sandbox by mid-2026. Concurrently, the green bond framework and multi-currency treasury suite must be developed through cross-functional working groups and launched by Q3 and Q4 2026 to align with institutional capital allocation cycles. Leadership must oversee continuous monitoring of geopolitical risk premiums and data governance regulations to ensure the IFC remains agile and competitive in attracting compute REITs, IP licensing structures, and sovereign-grade investment mandates.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3B82F6"/>
                </a:solidFill>
                <a:latin typeface="Helvetica Neue" pitchFamily="34" charset="0"/>
                <a:ea typeface="Helvetica Neue" pitchFamily="34" charset="-122"/>
                <a:cs typeface="Helvetica Neue" pitchFamily="34" charset="-120"/>
              </a:rPr>
              <a:t>KEY FINDINGS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Assessment Summary</a:t>
            </a:r>
            <a:endParaRPr lang="en-US" sz="2200" dirty="0"/>
          </a:p>
        </p:txBody>
      </p:sp>
      <p:sp>
        <p:nvSpPr>
          <p:cNvPr id="4" name="Shape 2"/>
          <p:cNvSpPr/>
          <p:nvPr/>
        </p:nvSpPr>
        <p:spPr>
          <a:xfrm>
            <a:off x="731520" y="1371600"/>
            <a:ext cx="2423160" cy="2926080"/>
          </a:xfrm>
          <a:prstGeom prst="rect">
            <a:avLst>
              <a:gd name="adj" fmla="val 3019"/>
            </a:avLst>
          </a:prstGeom>
          <a:solidFill>
            <a:srgbClr val="111B2E"/>
          </a:solidFill>
          <a:ln/>
        </p:spPr>
      </p:sp>
      <p:sp>
        <p:nvSpPr>
          <p:cNvPr id="5" name="Shape 3"/>
          <p:cNvSpPr/>
          <p:nvPr/>
        </p:nvSpPr>
        <p:spPr>
          <a:xfrm>
            <a:off x="731520" y="1371600"/>
            <a:ext cx="2423160" cy="36576"/>
          </a:xfrm>
          <a:prstGeom prst="rect">
            <a:avLst/>
          </a:prstGeom>
          <a:solidFill>
            <a:srgbClr val="3B82F6"/>
          </a:solidFill>
          <a:ln/>
        </p:spPr>
      </p:sp>
      <p:sp>
        <p:nvSpPr>
          <p:cNvPr id="6" name="Text 4"/>
          <p:cNvSpPr/>
          <p:nvPr/>
        </p:nvSpPr>
        <p:spPr>
          <a:xfrm>
            <a:off x="914400" y="1554480"/>
            <a:ext cx="457200" cy="365760"/>
          </a:xfrm>
          <a:prstGeom prst="rect">
            <a:avLst/>
          </a:prstGeom>
          <a:noFill/>
          <a:ln/>
        </p:spPr>
        <p:txBody>
          <a:bodyPr wrap="square" rtlCol="0" anchor="ctr"/>
          <a:lstStyle/>
          <a:p>
            <a:pPr indent="0" marL="0">
              <a:buNone/>
            </a:pPr>
            <a:r>
              <a:rPr lang="en-US" sz="2000" b="1" dirty="0">
                <a:solidFill>
                  <a:srgbClr val="3B82F6"/>
                </a:solidFill>
                <a:latin typeface="Courier New" pitchFamily="34" charset="0"/>
                <a:ea typeface="Courier New" pitchFamily="34" charset="-122"/>
                <a:cs typeface="Courier New" pitchFamily="34" charset="-120"/>
              </a:rPr>
              <a:t>01</a:t>
            </a:r>
            <a:endParaRPr lang="en-US" sz="2000" dirty="0"/>
          </a:p>
        </p:txBody>
      </p:sp>
      <p:sp>
        <p:nvSpPr>
          <p:cNvPr id="7" name="Text 5"/>
          <p:cNvSpPr/>
          <p:nvPr/>
        </p:nvSpPr>
        <p:spPr>
          <a:xfrm>
            <a:off x="91440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Sovereign Capital Dominance</a:t>
            </a:r>
            <a:endParaRPr lang="en-US" sz="1400" dirty="0"/>
          </a:p>
        </p:txBody>
      </p:sp>
      <p:sp>
        <p:nvSpPr>
          <p:cNvPr id="8" name="Text 6"/>
          <p:cNvSpPr/>
          <p:nvPr/>
        </p:nvSpPr>
        <p:spPr>
          <a:xfrm>
            <a:off x="91440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Gulf SWFs managing $5.7 trillion in AUM are driving a surge in cross-border M&amp;A while global deal volumes stagnate, with the UAE securing its #2 emerging market rank in the FDI Confidence Index for three consecutive years.</a:t>
            </a:r>
            <a:endParaRPr lang="en-US" sz="1100" dirty="0"/>
          </a:p>
        </p:txBody>
      </p:sp>
      <p:sp>
        <p:nvSpPr>
          <p:cNvPr id="9" name="Shape 7"/>
          <p:cNvSpPr/>
          <p:nvPr/>
        </p:nvSpPr>
        <p:spPr>
          <a:xfrm>
            <a:off x="3337560" y="1371600"/>
            <a:ext cx="2423160" cy="2926080"/>
          </a:xfrm>
          <a:prstGeom prst="rect">
            <a:avLst>
              <a:gd name="adj" fmla="val 3019"/>
            </a:avLst>
          </a:prstGeom>
          <a:solidFill>
            <a:srgbClr val="111B2E"/>
          </a:solidFill>
          <a:ln/>
        </p:spPr>
      </p:sp>
      <p:sp>
        <p:nvSpPr>
          <p:cNvPr id="10" name="Shape 8"/>
          <p:cNvSpPr/>
          <p:nvPr/>
        </p:nvSpPr>
        <p:spPr>
          <a:xfrm>
            <a:off x="3337560" y="1371600"/>
            <a:ext cx="2423160" cy="36576"/>
          </a:xfrm>
          <a:prstGeom prst="rect">
            <a:avLst/>
          </a:prstGeom>
          <a:solidFill>
            <a:srgbClr val="F59E0B"/>
          </a:solidFill>
          <a:ln/>
        </p:spPr>
      </p:sp>
      <p:sp>
        <p:nvSpPr>
          <p:cNvPr id="11" name="Text 9"/>
          <p:cNvSpPr/>
          <p:nvPr/>
        </p:nvSpPr>
        <p:spPr>
          <a:xfrm>
            <a:off x="3520440" y="1554480"/>
            <a:ext cx="457200" cy="365760"/>
          </a:xfrm>
          <a:prstGeom prst="rect">
            <a:avLst/>
          </a:prstGeom>
          <a:noFill/>
          <a:ln/>
        </p:spPr>
        <p:txBody>
          <a:bodyPr wrap="square" rtlCol="0" anchor="ctr"/>
          <a:lstStyle/>
          <a:p>
            <a:pPr indent="0" marL="0">
              <a:buNone/>
            </a:pPr>
            <a:r>
              <a:rPr lang="en-US" sz="2000" b="1" dirty="0">
                <a:solidFill>
                  <a:srgbClr val="F59E0B"/>
                </a:solidFill>
                <a:latin typeface="Courier New" pitchFamily="34" charset="0"/>
                <a:ea typeface="Courier New" pitchFamily="34" charset="-122"/>
                <a:cs typeface="Courier New" pitchFamily="34" charset="-120"/>
              </a:rPr>
              <a:t>02</a:t>
            </a:r>
            <a:endParaRPr lang="en-US" sz="2000" dirty="0"/>
          </a:p>
        </p:txBody>
      </p:sp>
      <p:sp>
        <p:nvSpPr>
          <p:cNvPr id="12" name="Text 10"/>
          <p:cNvSpPr/>
          <p:nvPr/>
        </p:nvSpPr>
        <p:spPr>
          <a:xfrm>
            <a:off x="352044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Family Office Portfolio Recalibration</a:t>
            </a:r>
            <a:endParaRPr lang="en-US" sz="1400" dirty="0"/>
          </a:p>
        </p:txBody>
      </p:sp>
      <p:sp>
        <p:nvSpPr>
          <p:cNvPr id="13" name="Text 11"/>
          <p:cNvSpPr/>
          <p:nvPr/>
        </p:nvSpPr>
        <p:spPr>
          <a:xfrm>
            <a:off x="352044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Wealthy family offices are actively reducing USD concentration and pivoting toward cross-asset diversification including blue-chip equities and inflation-linked instruments, with zero systemic outflows observed despite heightened geopolitical volatility.</a:t>
            </a:r>
            <a:endParaRPr lang="en-US" sz="1100" dirty="0"/>
          </a:p>
        </p:txBody>
      </p:sp>
      <p:sp>
        <p:nvSpPr>
          <p:cNvPr id="14" name="Shape 12"/>
          <p:cNvSpPr/>
          <p:nvPr/>
        </p:nvSpPr>
        <p:spPr>
          <a:xfrm>
            <a:off x="5943600" y="1371600"/>
            <a:ext cx="2423160" cy="2926080"/>
          </a:xfrm>
          <a:prstGeom prst="rect">
            <a:avLst>
              <a:gd name="adj" fmla="val 3019"/>
            </a:avLst>
          </a:prstGeom>
          <a:solidFill>
            <a:srgbClr val="111B2E"/>
          </a:solidFill>
          <a:ln/>
        </p:spPr>
      </p:sp>
      <p:sp>
        <p:nvSpPr>
          <p:cNvPr id="15" name="Shape 13"/>
          <p:cNvSpPr/>
          <p:nvPr/>
        </p:nvSpPr>
        <p:spPr>
          <a:xfrm>
            <a:off x="5943600" y="1371600"/>
            <a:ext cx="2423160" cy="36576"/>
          </a:xfrm>
          <a:prstGeom prst="rect">
            <a:avLst/>
          </a:prstGeom>
          <a:solidFill>
            <a:srgbClr val="10B981"/>
          </a:solidFill>
          <a:ln/>
        </p:spPr>
      </p:sp>
      <p:sp>
        <p:nvSpPr>
          <p:cNvPr id="16" name="Text 14"/>
          <p:cNvSpPr/>
          <p:nvPr/>
        </p:nvSpPr>
        <p:spPr>
          <a:xfrm>
            <a:off x="6126480" y="1554480"/>
            <a:ext cx="457200" cy="365760"/>
          </a:xfrm>
          <a:prstGeom prst="rect">
            <a:avLst/>
          </a:prstGeom>
          <a:noFill/>
          <a:ln/>
        </p:spPr>
        <p:txBody>
          <a:bodyPr wrap="square" rtlCol="0" anchor="ctr"/>
          <a:lstStyle/>
          <a:p>
            <a:pPr indent="0" marL="0">
              <a:buNone/>
            </a:pPr>
            <a:r>
              <a:rPr lang="en-US" sz="2000" b="1" dirty="0">
                <a:solidFill>
                  <a:srgbClr val="10B981"/>
                </a:solidFill>
                <a:latin typeface="Courier New" pitchFamily="34" charset="0"/>
                <a:ea typeface="Courier New" pitchFamily="34" charset="-122"/>
                <a:cs typeface="Courier New" pitchFamily="34" charset="-120"/>
              </a:rPr>
              <a:t>03</a:t>
            </a:r>
            <a:endParaRPr lang="en-US" sz="2000" dirty="0"/>
          </a:p>
        </p:txBody>
      </p:sp>
      <p:sp>
        <p:nvSpPr>
          <p:cNvPr id="17" name="Text 15"/>
          <p:cNvSpPr/>
          <p:nvPr/>
        </p:nvSpPr>
        <p:spPr>
          <a:xfrm>
            <a:off x="6126480" y="1965960"/>
            <a:ext cx="2057400" cy="457200"/>
          </a:xfrm>
          <a:prstGeom prst="rect">
            <a:avLst/>
          </a:prstGeom>
          <a:noFill/>
          <a:ln/>
        </p:spPr>
        <p:txBody>
          <a:bodyPr wrap="square" rtlCol="0" anchor="ctr"/>
          <a:lstStyle/>
          <a:p>
            <a:pPr indent="0" marL="0">
              <a:buNone/>
            </a:pPr>
            <a:r>
              <a:rPr lang="en-US" sz="1400" b="1" dirty="0">
                <a:solidFill>
                  <a:srgbClr val="FFFFFF"/>
                </a:solidFill>
                <a:latin typeface="Helvetica Neue" pitchFamily="34" charset="0"/>
                <a:ea typeface="Helvetica Neue" pitchFamily="34" charset="-122"/>
                <a:cs typeface="Helvetica Neue" pitchFamily="34" charset="-120"/>
              </a:rPr>
              <a:t>Sectoral Capital Concentration</a:t>
            </a:r>
            <a:endParaRPr lang="en-US" sz="1400" dirty="0"/>
          </a:p>
        </p:txBody>
      </p:sp>
      <p:sp>
        <p:nvSpPr>
          <p:cNvPr id="18" name="Text 16"/>
          <p:cNvSpPr/>
          <p:nvPr/>
        </p:nvSpPr>
        <p:spPr>
          <a:xfrm>
            <a:off x="6126480" y="2468880"/>
            <a:ext cx="2057400" cy="1645920"/>
          </a:xfrm>
          <a:prstGeom prst="rect">
            <a:avLst/>
          </a:prstGeom>
          <a:noFill/>
          <a:ln/>
        </p:spPr>
        <p:txBody>
          <a:bodyPr wrap="square" rtlCol="0" anchor="t"/>
          <a:lstStyle/>
          <a:p>
            <a:pPr indent="0" marL="0">
              <a:lnSpc>
                <a:spcPct val="135000"/>
              </a:lnSpc>
              <a:buNone/>
            </a:pPr>
            <a:r>
              <a:rPr lang="en-US" sz="1100" dirty="0">
                <a:solidFill>
                  <a:srgbClr val="94A3B8"/>
                </a:solidFill>
                <a:latin typeface="Helvetica Neue" pitchFamily="34" charset="0"/>
                <a:ea typeface="Helvetica Neue" pitchFamily="34" charset="-122"/>
                <a:cs typeface="Helvetica Neue" pitchFamily="34" charset="-120"/>
              </a:rPr>
              <a:t>Fintech captured a record 58% share of MENA startup capital in 2025 ($4.4 billion), while green finance accelerates into overseas renewables and AI infrastructure faces a growing geopolitical risk premium impacting deployment timelines.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F1D"/>
        </a:solidFill>
      </p:bgPr>
    </p:bg>
    <p:spTree>
      <p:nvGrpSpPr>
        <p:cNvPr id="1" name=""/>
        <p:cNvGrpSpPr/>
        <p:nvPr/>
      </p:nvGrpSpPr>
      <p:grpSpPr>
        <a:xfrm>
          <a:off x="0" y="0"/>
          <a:ext cx="0" cy="0"/>
          <a:chOff x="0" y="0"/>
          <a:chExt cx="0" cy="0"/>
        </a:xfrm>
      </p:grpSpPr>
      <p:sp>
        <p:nvSpPr>
          <p:cNvPr id="2" name="Text 0"/>
          <p:cNvSpPr/>
          <p:nvPr/>
        </p:nvSpPr>
        <p:spPr>
          <a:xfrm>
            <a:off x="731520" y="320040"/>
            <a:ext cx="3657600" cy="320040"/>
          </a:xfrm>
          <a:prstGeom prst="rect">
            <a:avLst/>
          </a:prstGeom>
          <a:noFill/>
          <a:ln/>
        </p:spPr>
        <p:txBody>
          <a:bodyPr wrap="square" rtlCol="0" anchor="ctr"/>
          <a:lstStyle/>
          <a:p>
            <a:pPr indent="0" marL="0">
              <a:buNone/>
            </a:pPr>
            <a:r>
              <a:rPr lang="en-US" sz="1000" b="1" spc="200" kern="0" dirty="0">
                <a:solidFill>
                  <a:srgbClr val="F59E0B"/>
                </a:solidFill>
                <a:latin typeface="Helvetica Neue" pitchFamily="34" charset="0"/>
                <a:ea typeface="Helvetica Neue" pitchFamily="34" charset="-122"/>
                <a:cs typeface="Helvetica Neue" pitchFamily="34" charset="-120"/>
              </a:rPr>
              <a:t>RECOMMENDATIONS</a:t>
            </a:r>
            <a:endParaRPr lang="en-US" sz="1000" dirty="0"/>
          </a:p>
        </p:txBody>
      </p:sp>
      <p:sp>
        <p:nvSpPr>
          <p:cNvPr id="3" name="Text 1"/>
          <p:cNvSpPr/>
          <p:nvPr/>
        </p:nvSpPr>
        <p:spPr>
          <a:xfrm>
            <a:off x="731520" y="685800"/>
            <a:ext cx="7680960" cy="457200"/>
          </a:xfrm>
          <a:prstGeom prst="rect">
            <a:avLst/>
          </a:prstGeom>
          <a:noFill/>
          <a:ln/>
        </p:spPr>
        <p:txBody>
          <a:bodyPr wrap="square" rtlCol="0" anchor="ctr"/>
          <a:lstStyle/>
          <a:p>
            <a:pPr indent="0" marL="0">
              <a:buNone/>
            </a:pPr>
            <a:r>
              <a:rPr lang="en-US" sz="2200" b="1" dirty="0">
                <a:solidFill>
                  <a:srgbClr val="FFFFFF"/>
                </a:solidFill>
                <a:latin typeface="Helvetica Neue" pitchFamily="34" charset="0"/>
                <a:ea typeface="Helvetica Neue" pitchFamily="34" charset="-122"/>
                <a:cs typeface="Helvetica Neue" pitchFamily="34" charset="-120"/>
              </a:rPr>
              <a:t>Strategic Actions Required</a:t>
            </a:r>
            <a:endParaRPr lang="en-US" sz="2200" dirty="0"/>
          </a:p>
        </p:txBody>
      </p:sp>
      <p:sp>
        <p:nvSpPr>
          <p:cNvPr id="4" name="Shape 2"/>
          <p:cNvSpPr/>
          <p:nvPr/>
        </p:nvSpPr>
        <p:spPr>
          <a:xfrm>
            <a:off x="731520" y="1435608"/>
            <a:ext cx="320040" cy="320040"/>
          </a:xfrm>
          <a:prstGeom prst="rect">
            <a:avLst>
              <a:gd name="adj" fmla="val 11429"/>
            </a:avLst>
          </a:prstGeom>
          <a:solidFill>
            <a:srgbClr val="EF4444"/>
          </a:solidFill>
          <a:ln/>
        </p:spPr>
      </p:sp>
      <p:sp>
        <p:nvSpPr>
          <p:cNvPr id="5" name="Text 3"/>
          <p:cNvSpPr/>
          <p:nvPr/>
        </p:nvSpPr>
        <p:spPr>
          <a:xfrm>
            <a:off x="731520" y="14356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6" name="Text 4"/>
          <p:cNvSpPr/>
          <p:nvPr/>
        </p:nvSpPr>
        <p:spPr>
          <a:xfrm>
            <a:off x="1234440" y="13716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Establish dedicated sovereign solutions desk offering sharia-compliant and conventional structures tailored to SWF investment mandates.</a:t>
            </a:r>
            <a:endParaRPr lang="en-US" sz="1300" dirty="0"/>
          </a:p>
        </p:txBody>
      </p:sp>
      <p:sp>
        <p:nvSpPr>
          <p:cNvPr id="7" name="Shape 5"/>
          <p:cNvSpPr/>
          <p:nvPr/>
        </p:nvSpPr>
        <p:spPr>
          <a:xfrm>
            <a:off x="1234440" y="1920240"/>
            <a:ext cx="7178040" cy="9144"/>
          </a:xfrm>
          <a:prstGeom prst="rect">
            <a:avLst/>
          </a:prstGeom>
          <a:solidFill>
            <a:srgbClr val="1E293B"/>
          </a:solidFill>
          <a:ln/>
        </p:spPr>
      </p:sp>
      <p:sp>
        <p:nvSpPr>
          <p:cNvPr id="8" name="Shape 6"/>
          <p:cNvSpPr/>
          <p:nvPr/>
        </p:nvSpPr>
        <p:spPr>
          <a:xfrm>
            <a:off x="731520" y="2121408"/>
            <a:ext cx="320040" cy="320040"/>
          </a:xfrm>
          <a:prstGeom prst="rect">
            <a:avLst>
              <a:gd name="adj" fmla="val 11429"/>
            </a:avLst>
          </a:prstGeom>
          <a:solidFill>
            <a:srgbClr val="F59E0B"/>
          </a:solidFill>
          <a:ln/>
        </p:spPr>
      </p:sp>
      <p:sp>
        <p:nvSpPr>
          <p:cNvPr id="9" name="Text 7"/>
          <p:cNvSpPr/>
          <p:nvPr/>
        </p:nvSpPr>
        <p:spPr>
          <a:xfrm>
            <a:off x="731520" y="21214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10" name="Text 8"/>
          <p:cNvSpPr/>
          <p:nvPr/>
        </p:nvSpPr>
        <p:spPr>
          <a:xfrm>
            <a:off x="1234440" y="20574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Launch fast-track fintech licensing regime with regulatory sandbox integrated directly with open banking standards.</a:t>
            </a:r>
            <a:endParaRPr lang="en-US" sz="1300" dirty="0"/>
          </a:p>
        </p:txBody>
      </p:sp>
      <p:sp>
        <p:nvSpPr>
          <p:cNvPr id="11" name="Shape 9"/>
          <p:cNvSpPr/>
          <p:nvPr/>
        </p:nvSpPr>
        <p:spPr>
          <a:xfrm>
            <a:off x="1234440" y="2606040"/>
            <a:ext cx="7178040" cy="9144"/>
          </a:xfrm>
          <a:prstGeom prst="rect">
            <a:avLst/>
          </a:prstGeom>
          <a:solidFill>
            <a:srgbClr val="1E293B"/>
          </a:solidFill>
          <a:ln/>
        </p:spPr>
      </p:sp>
      <p:sp>
        <p:nvSpPr>
          <p:cNvPr id="12" name="Shape 10"/>
          <p:cNvSpPr/>
          <p:nvPr/>
        </p:nvSpPr>
        <p:spPr>
          <a:xfrm>
            <a:off x="731520" y="2807208"/>
            <a:ext cx="320040" cy="320040"/>
          </a:xfrm>
          <a:prstGeom prst="rect">
            <a:avLst>
              <a:gd name="adj" fmla="val 11429"/>
            </a:avLst>
          </a:prstGeom>
          <a:solidFill>
            <a:srgbClr val="3B82F6"/>
          </a:solidFill>
          <a:ln/>
        </p:spPr>
      </p:sp>
      <p:sp>
        <p:nvSpPr>
          <p:cNvPr id="13" name="Text 11"/>
          <p:cNvSpPr/>
          <p:nvPr/>
        </p:nvSpPr>
        <p:spPr>
          <a:xfrm>
            <a:off x="731520" y="28072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14" name="Text 12"/>
          <p:cNvSpPr/>
          <p:nvPr/>
        </p:nvSpPr>
        <p:spPr>
          <a:xfrm>
            <a:off x="1234440" y="27432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Develop green bond origination capabilities alongside an independent ESG verification and carbon registry platform.</a:t>
            </a:r>
            <a:endParaRPr lang="en-US" sz="1300" dirty="0"/>
          </a:p>
        </p:txBody>
      </p:sp>
      <p:sp>
        <p:nvSpPr>
          <p:cNvPr id="15" name="Shape 13"/>
          <p:cNvSpPr/>
          <p:nvPr/>
        </p:nvSpPr>
        <p:spPr>
          <a:xfrm>
            <a:off x="1234440" y="3291840"/>
            <a:ext cx="7178040" cy="9144"/>
          </a:xfrm>
          <a:prstGeom prst="rect">
            <a:avLst/>
          </a:prstGeom>
          <a:solidFill>
            <a:srgbClr val="1E293B"/>
          </a:solidFill>
          <a:ln/>
        </p:spPr>
      </p:sp>
      <p:sp>
        <p:nvSpPr>
          <p:cNvPr id="16" name="Shape 14"/>
          <p:cNvSpPr/>
          <p:nvPr/>
        </p:nvSpPr>
        <p:spPr>
          <a:xfrm>
            <a:off x="731520" y="3493008"/>
            <a:ext cx="320040" cy="320040"/>
          </a:xfrm>
          <a:prstGeom prst="rect">
            <a:avLst>
              <a:gd name="adj" fmla="val 11429"/>
            </a:avLst>
          </a:prstGeom>
          <a:solidFill>
            <a:srgbClr val="10B981"/>
          </a:solidFill>
          <a:ln/>
        </p:spPr>
      </p:sp>
      <p:sp>
        <p:nvSpPr>
          <p:cNvPr id="17" name="Text 15"/>
          <p:cNvSpPr/>
          <p:nvPr/>
        </p:nvSpPr>
        <p:spPr>
          <a:xfrm>
            <a:off x="731520" y="34930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18" name="Text 16"/>
          <p:cNvSpPr/>
          <p:nvPr/>
        </p:nvSpPr>
        <p:spPr>
          <a:xfrm>
            <a:off x="1234440" y="34290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Build multi-currency treasury and structured FX product suites specifically designed for family office portfolio diversification.</a:t>
            </a:r>
            <a:endParaRPr lang="en-US" sz="1300" dirty="0"/>
          </a:p>
        </p:txBody>
      </p:sp>
      <p:sp>
        <p:nvSpPr>
          <p:cNvPr id="19" name="Shape 17"/>
          <p:cNvSpPr/>
          <p:nvPr/>
        </p:nvSpPr>
        <p:spPr>
          <a:xfrm>
            <a:off x="1234440" y="3977640"/>
            <a:ext cx="7178040" cy="9144"/>
          </a:xfrm>
          <a:prstGeom prst="rect">
            <a:avLst/>
          </a:prstGeom>
          <a:solidFill>
            <a:srgbClr val="1E293B"/>
          </a:solidFill>
          <a:ln/>
        </p:spPr>
      </p:sp>
      <p:sp>
        <p:nvSpPr>
          <p:cNvPr id="20" name="Shape 18"/>
          <p:cNvSpPr/>
          <p:nvPr/>
        </p:nvSpPr>
        <p:spPr>
          <a:xfrm>
            <a:off x="731520" y="4178808"/>
            <a:ext cx="320040" cy="320040"/>
          </a:xfrm>
          <a:prstGeom prst="rect">
            <a:avLst>
              <a:gd name="adj" fmla="val 11429"/>
            </a:avLst>
          </a:prstGeom>
          <a:solidFill>
            <a:srgbClr val="94A3B8"/>
          </a:solidFill>
          <a:ln/>
        </p:spPr>
      </p:sp>
      <p:sp>
        <p:nvSpPr>
          <p:cNvPr id="21" name="Text 19"/>
          <p:cNvSpPr/>
          <p:nvPr/>
        </p:nvSpPr>
        <p:spPr>
          <a:xfrm>
            <a:off x="731520" y="4178808"/>
            <a:ext cx="320040" cy="320040"/>
          </a:xfrm>
          <a:prstGeom prst="rect">
            <a:avLst/>
          </a:prstGeom>
          <a:noFill/>
          <a:ln/>
        </p:spPr>
        <p:txBody>
          <a:bodyPr wrap="square"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22" name="Text 20"/>
          <p:cNvSpPr/>
          <p:nvPr/>
        </p:nvSpPr>
        <p:spPr>
          <a:xfrm>
            <a:off x="1234440" y="4114800"/>
            <a:ext cx="7178040" cy="45720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Position the IFC as a neutral AI data governance jurisdiction to attract compute REITs and intellectual property licensing structures.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F1D"/>
        </a:solidFill>
      </p:bgPr>
    </p:bg>
    <p:spTree>
      <p:nvGrpSpPr>
        <p:cNvPr id="1" name=""/>
        <p:cNvGrpSpPr/>
        <p:nvPr/>
      </p:nvGrpSpPr>
      <p:grpSpPr>
        <a:xfrm>
          <a:off x="0" y="0"/>
          <a:ext cx="0" cy="0"/>
          <a:chOff x="0" y="0"/>
          <a:chExt cx="0" cy="0"/>
        </a:xfrm>
      </p:grpSpPr>
      <p:sp>
        <p:nvSpPr>
          <p:cNvPr id="2" name="Shape 0"/>
          <p:cNvSpPr/>
          <p:nvPr/>
        </p:nvSpPr>
        <p:spPr>
          <a:xfrm>
            <a:off x="0" y="0"/>
            <a:ext cx="12192000" cy="54864"/>
          </a:xfrm>
          <a:prstGeom prst="rect">
            <a:avLst/>
          </a:prstGeom>
          <a:solidFill>
            <a:srgbClr val="3B82F6"/>
          </a:solidFill>
          <a:ln/>
        </p:spPr>
      </p:sp>
      <p:sp>
        <p:nvSpPr>
          <p:cNvPr id="3" name="Text 1"/>
          <p:cNvSpPr/>
          <p:nvPr/>
        </p:nvSpPr>
        <p:spPr>
          <a:xfrm>
            <a:off x="731520" y="1371600"/>
            <a:ext cx="7680960" cy="457200"/>
          </a:xfrm>
          <a:prstGeom prst="rect">
            <a:avLst/>
          </a:prstGeom>
          <a:noFill/>
          <a:ln/>
        </p:spPr>
        <p:txBody>
          <a:bodyPr wrap="square" rtlCol="0" anchor="ctr"/>
          <a:lstStyle/>
          <a:p>
            <a:pPr algn="ctr" indent="0" marL="0">
              <a:buNone/>
            </a:pPr>
            <a:r>
              <a:rPr lang="en-US" sz="2800" b="1" dirty="0">
                <a:solidFill>
                  <a:srgbClr val="FFFFFF"/>
                </a:solidFill>
                <a:latin typeface="Helvetica Neue" pitchFamily="34" charset="0"/>
                <a:ea typeface="Helvetica Neue" pitchFamily="34" charset="-122"/>
                <a:cs typeface="Helvetica Neue" pitchFamily="34" charset="-120"/>
              </a:rPr>
              <a:t>NEXT STEPS</a:t>
            </a:r>
            <a:endParaRPr lang="en-US" sz="2800" dirty="0"/>
          </a:p>
        </p:txBody>
      </p:sp>
      <p:sp>
        <p:nvSpPr>
          <p:cNvPr id="4" name="Text 2"/>
          <p:cNvSpPr/>
          <p:nvPr/>
        </p:nvSpPr>
        <p:spPr>
          <a:xfrm>
            <a:off x="1371600" y="2011680"/>
            <a:ext cx="6400800" cy="548640"/>
          </a:xfrm>
          <a:prstGeom prst="rect">
            <a:avLst/>
          </a:prstGeom>
          <a:noFill/>
          <a:ln/>
        </p:spPr>
        <p:txBody>
          <a:bodyPr wrap="square" rtlCol="0" anchor="ctr"/>
          <a:lstStyle/>
          <a:p>
            <a:pPr algn="ctr" indent="0" marL="0">
              <a:buNone/>
            </a:pPr>
            <a:r>
              <a:rPr lang="en-US" sz="1400" dirty="0">
                <a:solidFill>
                  <a:srgbClr val="94A3B8"/>
                </a:solidFill>
                <a:latin typeface="Helvetica Neue" pitchFamily="34" charset="0"/>
                <a:ea typeface="Helvetica Neue" pitchFamily="34" charset="-122"/>
                <a:cs typeface="Helvetica Neue" pitchFamily="34" charset="-120"/>
              </a:rPr>
              <a:t>We recommend proceeding with the actions outlined above.</a:t>
            </a:r>
            <a:endParaRPr lang="en-US" sz="1400" dirty="0"/>
          </a:p>
        </p:txBody>
      </p:sp>
      <p:sp>
        <p:nvSpPr>
          <p:cNvPr id="5" name="Text 3"/>
          <p:cNvSpPr/>
          <p:nvPr/>
        </p:nvSpPr>
        <p:spPr>
          <a:xfrm>
            <a:off x="1828800" y="28346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1.  Sovereign solutions desk establishment and team onboarding by Q1 2026</a:t>
            </a:r>
            <a:endParaRPr lang="en-US" sz="1300" dirty="0"/>
          </a:p>
        </p:txBody>
      </p:sp>
      <p:sp>
        <p:nvSpPr>
          <p:cNvPr id="6" name="Text 4"/>
          <p:cNvSpPr/>
          <p:nvPr/>
        </p:nvSpPr>
        <p:spPr>
          <a:xfrm>
            <a:off x="1828800" y="32918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2.  Fintech regulatory sandbox launch and first cohort licensing by Q2 2026</a:t>
            </a:r>
            <a:endParaRPr lang="en-US" sz="1300" dirty="0"/>
          </a:p>
        </p:txBody>
      </p:sp>
      <p:sp>
        <p:nvSpPr>
          <p:cNvPr id="7" name="Text 5"/>
          <p:cNvSpPr/>
          <p:nvPr/>
        </p:nvSpPr>
        <p:spPr>
          <a:xfrm>
            <a:off x="1828800" y="37490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3.  Green bond origination framework development and ESG platform testing by Q3 2026</a:t>
            </a:r>
            <a:endParaRPr lang="en-US" sz="1300" dirty="0"/>
          </a:p>
        </p:txBody>
      </p:sp>
      <p:sp>
        <p:nvSpPr>
          <p:cNvPr id="8" name="Text 6"/>
          <p:cNvSpPr/>
          <p:nvPr/>
        </p:nvSpPr>
        <p:spPr>
          <a:xfrm>
            <a:off x="1828800" y="4206240"/>
            <a:ext cx="5486400" cy="365760"/>
          </a:xfrm>
          <a:prstGeom prst="rect">
            <a:avLst/>
          </a:prstGeom>
          <a:noFill/>
          <a:ln/>
        </p:spPr>
        <p:txBody>
          <a:bodyPr wrap="square" rtlCol="0" anchor="ctr"/>
          <a:lstStyle/>
          <a:p>
            <a:pPr indent="0" marL="0">
              <a:buNone/>
            </a:pPr>
            <a:r>
              <a:rPr lang="en-US" sz="1300" dirty="0">
                <a:solidFill>
                  <a:srgbClr val="E2E8F0"/>
                </a:solidFill>
                <a:latin typeface="Helvetica Neue" pitchFamily="34" charset="0"/>
                <a:ea typeface="Helvetica Neue" pitchFamily="34" charset="-122"/>
                <a:cs typeface="Helvetica Neue" pitchFamily="34" charset="-120"/>
              </a:rPr>
              <a:t>4.  Multi-currency treasury and structured FX product suite market rollout by Q4 2026</a:t>
            </a:r>
            <a:endParaRPr lang="en-US" sz="1300" dirty="0"/>
          </a:p>
        </p:txBody>
      </p:sp>
      <p:sp>
        <p:nvSpPr>
          <p:cNvPr id="9" name="Text 7"/>
          <p:cNvSpPr/>
          <p:nvPr/>
        </p:nvSpPr>
        <p:spPr>
          <a:xfrm>
            <a:off x="731520" y="4572000"/>
            <a:ext cx="7680960" cy="274320"/>
          </a:xfrm>
          <a:prstGeom prst="rect">
            <a:avLst/>
          </a:prstGeom>
          <a:noFill/>
          <a:ln/>
        </p:spPr>
        <p:txBody>
          <a:bodyPr wrap="square" rtlCol="0" anchor="ctr"/>
          <a:lstStyle/>
          <a:p>
            <a:pPr algn="ctr" indent="0" marL="0">
              <a:buNone/>
            </a:pPr>
            <a:r>
              <a:rPr lang="en-US" sz="900" dirty="0">
                <a:solidFill>
                  <a:srgbClr val="1E293B"/>
                </a:solidFill>
                <a:latin typeface="Courier New" pitchFamily="34" charset="0"/>
                <a:ea typeface="Courier New" pitchFamily="34" charset="-122"/>
                <a:cs typeface="Courier New" pitchFamily="34" charset="-120"/>
              </a:rPr>
              <a:t>CONFIDENTIAL — FOR INTERNAL USE ONLY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GCC Capital Flows &amp; Investment Trends</dc:title>
  <dc:subject>EXECUTIVE_SUMMARY Strategic Presentation</dc:subject>
  <dc:creator>CSO Strategic Intelligence Assistant</dc:creator>
  <cp:lastModifiedBy>CSO Strategic Intelligence Assistant</cp:lastModifiedBy>
  <cp:revision>1</cp:revision>
  <dcterms:created xsi:type="dcterms:W3CDTF">2026-06-08T22:06:57Z</dcterms:created>
  <dcterms:modified xsi:type="dcterms:W3CDTF">2026-06-08T22:06:57Z</dcterms:modified>
</cp:coreProperties>
</file>